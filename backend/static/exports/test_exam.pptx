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1"/>
    <p:sldId id="260" r:id="rId12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notesMaster" Target="notesMasters/notesMaster1.xml"/><Relationship Id="rId11" Type="http://schemas.openxmlformats.org/officeDocument/2006/relationships/slide" Target="slides/slide4.xml"/><Relationship Id="rId12" Type="http://schemas.openxmlformats.org/officeDocument/2006/relationships/slide" Target="slides/slide5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Question 1 Notes:</a:t>
            </a:r>
          </a:p>
          <a:p>
            <a:r>
              <a:t>- Allocated Marks: 25</a:t>
            </a:r>
          </a:p>
          <a:p>
            <a:r>
              <a:t>- Subject: Mathematics</a:t>
            </a:r>
          </a:p>
          <a:p>
            <a:r>
              <a:t>- Text: Evaluate the double integral ∬_R (x² + y²) dx dy over circle ² + y² ≤ 4.</a:t>
            </a:r>
          </a:p>
          <a:p>
            <a:r>
              <a:t>- Marking Guidance: Award full marks for complete and rigorous answers. Deduct marks for missing steps, wrong algebraic units, or lack of critical citations.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Question 2 Notes:</a:t>
            </a:r>
          </a:p>
          <a:p>
            <a:r>
              <a:t>- Allocated Marks: 25</a:t>
            </a:r>
          </a:p>
          <a:p>
            <a:r>
              <a:t>- Subject: Mathematics</a:t>
            </a:r>
          </a:p>
          <a:p>
            <a:r>
              <a:t>- Text: Analyze the primary causes of the 1857 Revolt in India with reference to administrative policies.</a:t>
            </a:r>
          </a:p>
          <a:p>
            <a:r>
              <a:t>- Marking Guidance: Award full marks for complete and rigorous answers. Deduct marks for missing steps, wrong algebraic units, or lack of critical citations.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2926080"/>
          </a:xfrm>
          <a:prstGeom prst="rect">
            <a:avLst/>
          </a:prstGeom>
          <a:solidFill>
            <a:srgbClr val="0F172A"/>
          </a:solidFill>
          <a:ln>
            <a:solidFill>
              <a:srgbClr val="0F17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2926080"/>
            <a:ext cx="12191695" cy="73152"/>
          </a:xfrm>
          <a:prstGeom prst="rect">
            <a:avLst/>
          </a:prstGeom>
          <a:solidFill>
            <a:srgbClr val="0284C7"/>
          </a:solidFill>
          <a:ln>
            <a:solidFill>
              <a:srgbClr val="0284C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731520" y="457200"/>
            <a:ext cx="2926080" cy="438912"/>
          </a:xfrm>
          <a:prstGeom prst="roundRect">
            <a:avLst/>
          </a:prstGeom>
          <a:solidFill>
            <a:srgbClr val="1E40AF"/>
          </a:solidFill>
          <a:ln>
            <a:solidFill>
              <a:srgbClr val="1E40A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 b="1">
                <a:solidFill>
                  <a:srgbClr val="FFFFFF"/>
                </a:solidFill>
                <a:latin typeface="Arial"/>
              </a:defRPr>
            </a:pPr>
            <a:r>
              <a:t>📐 MATHEMATICS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051560"/>
            <a:ext cx="1069848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FFFFFF"/>
                </a:solidFill>
                <a:latin typeface="Arial"/>
              </a:defRPr>
            </a:pPr>
            <a:r>
              <a:t>TEST EXAMINATION</a:t>
            </a:r>
          </a:p>
          <a:p>
            <a:pPr>
              <a:defRPr sz="1300">
                <a:solidFill>
                  <a:srgbClr val="CBD5E1"/>
                </a:solidFill>
                <a:latin typeface="Arial"/>
              </a:defRPr>
            </a:pPr>
            <a:r>
              <a:t>Official University / Board Level Comprehensive Examination Paper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3246120"/>
            <a:ext cx="3328416" cy="1097280"/>
          </a:xfrm>
          <a:prstGeom prst="roundRect">
            <a:avLst/>
          </a:prstGeom>
          <a:solidFill>
            <a:srgbClr val="F8FAFC"/>
          </a:solidFill>
          <a:ln w="1524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100">
                <a:solidFill>
                  <a:srgbClr val="475569"/>
                </a:solidFill>
                <a:latin typeface="Arial"/>
              </a:defRPr>
            </a:pPr>
            <a:r>
              <a:t>🏆  Total Max Marks</a:t>
            </a:r>
          </a:p>
          <a:p>
            <a:pPr>
              <a:defRPr sz="1700" b="1">
                <a:solidFill>
                  <a:srgbClr val="0F172A"/>
                </a:solidFill>
                <a:latin typeface="Arial"/>
              </a:defRPr>
            </a:pPr>
            <a:r>
              <a:t>50 Marks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407408" y="3246120"/>
            <a:ext cx="3328416" cy="1097280"/>
          </a:xfrm>
          <a:prstGeom prst="roundRect">
            <a:avLst/>
          </a:prstGeom>
          <a:solidFill>
            <a:srgbClr val="F8FAFC"/>
          </a:solidFill>
          <a:ln w="1524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100">
                <a:solidFill>
                  <a:srgbClr val="475569"/>
                </a:solidFill>
                <a:latin typeface="Arial"/>
              </a:defRPr>
            </a:pPr>
            <a:r>
              <a:t>📝  Question Count</a:t>
            </a:r>
          </a:p>
          <a:p>
            <a:pPr>
              <a:defRPr sz="1700" b="1">
                <a:solidFill>
                  <a:srgbClr val="0F172A"/>
                </a:solidFill>
                <a:latin typeface="Arial"/>
              </a:defRPr>
            </a:pPr>
            <a:r>
              <a:t>2 Problems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8083296" y="3246120"/>
            <a:ext cx="3328416" cy="1097280"/>
          </a:xfrm>
          <a:prstGeom prst="roundRect">
            <a:avLst/>
          </a:prstGeom>
          <a:solidFill>
            <a:srgbClr val="F8FAFC"/>
          </a:solidFill>
          <a:ln w="1524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100">
                <a:solidFill>
                  <a:srgbClr val="475569"/>
                </a:solidFill>
                <a:latin typeface="Arial"/>
              </a:defRPr>
            </a:pPr>
            <a:r>
              <a:t>⏱️  Duration / Time</a:t>
            </a:r>
          </a:p>
          <a:p>
            <a:pPr>
              <a:defRPr sz="1700" b="1">
                <a:solidFill>
                  <a:srgbClr val="0F172A"/>
                </a:solidFill>
                <a:latin typeface="Arial"/>
              </a:defRPr>
            </a:pPr>
            <a:r>
              <a:t>3 Hours (180 Mins)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31520" y="4572000"/>
            <a:ext cx="10698480" cy="1645920"/>
          </a:xfrm>
          <a:prstGeom prst="roundRect">
            <a:avLst/>
          </a:prstGeom>
          <a:solidFill>
            <a:srgbClr val="EFF6FF"/>
          </a:solidFill>
          <a:ln w="12700">
            <a:solidFill>
              <a:srgbClr val="1E40A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200" b="1">
                <a:solidFill>
                  <a:srgbClr val="1E40AF"/>
                </a:solidFill>
                <a:latin typeface="Arial"/>
              </a:defRPr>
            </a:pPr>
            <a:r>
              <a:t>📋 CANDIDATE GENERAL INSTRUCTIONS:</a:t>
            </a:r>
          </a:p>
          <a:p>
            <a:pPr>
              <a:defRPr sz="1050">
                <a:solidFill>
                  <a:srgbClr val="1E293B"/>
                </a:solidFill>
                <a:latin typeface="Arial"/>
              </a:defRPr>
            </a:pPr>
            <a:r>
              <a:t>1. All questions are compulsory unless specified otherwise. Marks are indicated against each question.</a:t>
            </a:r>
          </a:p>
          <a:p>
            <a:pPr>
              <a:defRPr sz="1050">
                <a:solidFill>
                  <a:srgbClr val="1E293B"/>
                </a:solidFill>
                <a:latin typeface="Arial"/>
              </a:defRPr>
            </a:pPr>
            <a:r>
              <a:t>2. For mathematical &amp; scientific problems, show complete step-by-step derivations, calculations, and state appropriate units.</a:t>
            </a:r>
          </a:p>
          <a:p>
            <a:pPr>
              <a:defRPr sz="1050">
                <a:solidFill>
                  <a:srgbClr val="1E293B"/>
                </a:solidFill>
                <a:latin typeface="Arial"/>
              </a:defRPr>
            </a:pPr>
            <a:r>
              <a:t>3. For humanities &amp; history questions, provide structured source analysis, contextual evidence, and critical reasoning.</a:t>
            </a:r>
          </a:p>
          <a:p>
            <a:pPr>
              <a:defRPr sz="1050">
                <a:solidFill>
                  <a:srgbClr val="1E293B"/>
                </a:solidFill>
                <a:latin typeface="Arial"/>
              </a:defRPr>
            </a:pPr>
            <a:r>
              <a:t>4. Neat, labeled diagrams and plots must be provided wherever asked.</a:t>
            </a:r>
          </a:p>
        </p:txBody>
      </p:sp>
      <p:sp>
        <p:nvSpPr>
          <p:cNvPr id="10" name="Rectangle 9"/>
          <p:cNvSpPr/>
          <p:nvPr/>
        </p:nvSpPr>
        <p:spPr>
          <a:xfrm>
            <a:off x="0" y="6446520"/>
            <a:ext cx="12191695" cy="411480"/>
          </a:xfrm>
          <a:prstGeom prst="rect">
            <a:avLst/>
          </a:prstGeom>
          <a:solidFill>
            <a:srgbClr val="0F172A"/>
          </a:solidFill>
          <a:ln>
            <a:solidFill>
              <a:srgbClr val="0F17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48640" y="6473952"/>
            <a:ext cx="68580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50">
                <a:solidFill>
                  <a:srgbClr val="CBD5E1"/>
                </a:solidFill>
                <a:latin typeface="Arial"/>
              </a:defRPr>
            </a:pPr>
            <a:r>
              <a:t>ExamGen Autonomous Examination System  •  Test Examination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686800" y="6473952"/>
            <a:ext cx="29260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50">
                <a:solidFill>
                  <a:srgbClr val="CBD5E1"/>
                </a:solidFill>
                <a:latin typeface="Arial"/>
              </a:defRPr>
            </a:pPr>
            <a:r>
              <a:t>Slide 1 of 5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0F172A"/>
          </a:solidFill>
          <a:ln>
            <a:solidFill>
              <a:srgbClr val="0F17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51560"/>
            <a:ext cx="12191695" cy="36576"/>
          </a:xfrm>
          <a:prstGeom prst="rect">
            <a:avLst/>
          </a:prstGeom>
          <a:solidFill>
            <a:srgbClr val="0284C7"/>
          </a:solidFill>
          <a:ln>
            <a:solidFill>
              <a:srgbClr val="0284C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182880"/>
            <a:ext cx="80467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 b="1">
                <a:solidFill>
                  <a:srgbClr val="FFFFFF"/>
                </a:solidFill>
                <a:latin typeface="Arial"/>
              </a:defRPr>
            </a:pPr>
            <a:r>
              <a:t>Exam Blueprint &amp; Questions Overview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8961120" y="274320"/>
            <a:ext cx="2651760" cy="502920"/>
          </a:xfrm>
          <a:prstGeom prst="roundRect">
            <a:avLst/>
          </a:prstGeom>
          <a:solidFill>
            <a:srgbClr val="1E40AF"/>
          </a:solidFill>
          <a:ln>
            <a:solidFill>
              <a:srgbClr val="1E40A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200" b="1">
                <a:solidFill>
                  <a:srgbClr val="FFFFFF"/>
                </a:solidFill>
                <a:latin typeface="Arial"/>
              </a:defRPr>
            </a:pPr>
            <a:r>
              <a:t>📐 MATHEMATICS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731520" y="1417320"/>
          <a:ext cx="10698480" cy="1316736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371600"/>
                <a:gridCol w="6217920"/>
                <a:gridCol w="1645920"/>
                <a:gridCol w="1463040"/>
              </a:tblGrid>
              <a:tr h="438912"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FFFFFF"/>
                          </a:solidFill>
                          <a:latin typeface="Arial"/>
                        </a:defRPr>
                      </a:pPr>
                      <a:r>
                        <a:t>Question #</a:t>
                      </a:r>
                    </a:p>
                  </a:txBody>
                  <a:tcPr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100" b="1">
                          <a:solidFill>
                            <a:srgbClr val="FFFFFF"/>
                          </a:solidFill>
                          <a:latin typeface="Arial"/>
                        </a:defRPr>
                      </a:pPr>
                      <a:r>
                        <a:t>Topic / Problem Focus</a:t>
                      </a:r>
                    </a:p>
                  </a:txBody>
                  <a:tcPr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FFFFFF"/>
                          </a:solidFill>
                          <a:latin typeface="Arial"/>
                        </a:defRPr>
                      </a:pPr>
                      <a:r>
                        <a:t>Allocated Marks</a:t>
                      </a:r>
                    </a:p>
                  </a:txBody>
                  <a:tcPr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FFFFFF"/>
                          </a:solidFill>
                          <a:latin typeface="Arial"/>
                        </a:defRPr>
                      </a:pPr>
                      <a:r>
                        <a:t>Visual Diagram</a:t>
                      </a:r>
                    </a:p>
                  </a:txBody>
                  <a:tcPr>
                    <a:solidFill>
                      <a:srgbClr val="0F172A"/>
                    </a:solidFill>
                  </a:tcPr>
                </a:tc>
              </a:tr>
              <a:tr h="438912"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0F172A"/>
                          </a:solidFill>
                          <a:latin typeface="Arial"/>
                        </a:defRPr>
                      </a:pPr>
                      <a:r>
                        <a:t>Question 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0F172A"/>
                          </a:solidFill>
                          <a:latin typeface="Arial"/>
                        </a:defRPr>
                      </a:pPr>
                      <a:r>
                        <a:t>Evaluate the double integral ∬_R (x² + y²) dx dy over circle ² + y² ≤ 4.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1E40AF"/>
                          </a:solidFill>
                          <a:latin typeface="Arial"/>
                        </a:defRPr>
                      </a:pPr>
                      <a:r>
                        <a:t>25 Marks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0F172A"/>
                          </a:solidFill>
                          <a:latin typeface="Arial"/>
                        </a:defRPr>
                      </a:pPr>
                      <a:r>
                        <a:t>Standard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438912"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0F172A"/>
                          </a:solidFill>
                          <a:latin typeface="Arial"/>
                        </a:defRPr>
                      </a:pPr>
                      <a:r>
                        <a:t>Question 2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0F172A"/>
                          </a:solidFill>
                          <a:latin typeface="Arial"/>
                        </a:defRPr>
                      </a:pPr>
                      <a:r>
                        <a:t>Analyze the primary causes of the 1857 Revolt in India with reference to administrative po...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1E40AF"/>
                          </a:solidFill>
                          <a:latin typeface="Arial"/>
                        </a:defRPr>
                      </a:pPr>
                      <a:r>
                        <a:t>25 Marks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0F172A"/>
                          </a:solidFill>
                          <a:latin typeface="Arial"/>
                        </a:defRPr>
                      </a:pPr>
                      <a:r>
                        <a:t>Standard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</a:tr>
            </a:tbl>
          </a:graphicData>
        </a:graphic>
      </p:graphicFrame>
      <p:sp>
        <p:nvSpPr>
          <p:cNvPr id="7" name="Rectangle 6"/>
          <p:cNvSpPr/>
          <p:nvPr/>
        </p:nvSpPr>
        <p:spPr>
          <a:xfrm>
            <a:off x="0" y="6446520"/>
            <a:ext cx="12191695" cy="411480"/>
          </a:xfrm>
          <a:prstGeom prst="rect">
            <a:avLst/>
          </a:prstGeom>
          <a:solidFill>
            <a:srgbClr val="0F172A"/>
          </a:solidFill>
          <a:ln>
            <a:solidFill>
              <a:srgbClr val="0F17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48640" y="6473952"/>
            <a:ext cx="68580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50">
                <a:solidFill>
                  <a:srgbClr val="CBD5E1"/>
                </a:solidFill>
                <a:latin typeface="Arial"/>
              </a:defRPr>
            </a:pPr>
            <a:r>
              <a:t>ExamGen Autonomous Examination System  •  Test Examination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686800" y="6473952"/>
            <a:ext cx="29260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50">
                <a:solidFill>
                  <a:srgbClr val="CBD5E1"/>
                </a:solidFill>
                <a:latin typeface="Arial"/>
              </a:defRPr>
            </a:pPr>
            <a:r>
              <a:t>Slide 2 of 5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0F172A"/>
          </a:solidFill>
          <a:ln>
            <a:solidFill>
              <a:srgbClr val="0F17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51560"/>
            <a:ext cx="12191695" cy="36576"/>
          </a:xfrm>
          <a:prstGeom prst="rect">
            <a:avLst/>
          </a:prstGeom>
          <a:solidFill>
            <a:srgbClr val="0284C7"/>
          </a:solidFill>
          <a:ln>
            <a:solidFill>
              <a:srgbClr val="0284C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182880"/>
            <a:ext cx="80467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 b="1">
                <a:solidFill>
                  <a:srgbClr val="FFFFFF"/>
                </a:solidFill>
                <a:latin typeface="Arial"/>
              </a:defRPr>
            </a:pPr>
            <a:r>
              <a:t>Question 1  [25 Marks]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8961120" y="274320"/>
            <a:ext cx="2651760" cy="502920"/>
          </a:xfrm>
          <a:prstGeom prst="roundRect">
            <a:avLst/>
          </a:prstGeom>
          <a:solidFill>
            <a:srgbClr val="1E40AF"/>
          </a:solidFill>
          <a:ln>
            <a:solidFill>
              <a:srgbClr val="1E40A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200" b="1">
                <a:solidFill>
                  <a:srgbClr val="FFFFFF"/>
                </a:solidFill>
                <a:latin typeface="Arial"/>
              </a:defRPr>
            </a:pPr>
            <a:r>
              <a:t>📐 MATHEMATICS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325880"/>
            <a:ext cx="10698480" cy="3749039"/>
          </a:xfrm>
          <a:prstGeom prst="roundRect">
            <a:avLst/>
          </a:prstGeom>
          <a:solidFill>
            <a:srgbClr val="F8FAFC"/>
          </a:solidFill>
          <a:ln w="1524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200" b="1">
                <a:solidFill>
                  <a:srgbClr val="1E40AF"/>
                </a:solidFill>
                <a:latin typeface="Arial"/>
              </a:defRPr>
            </a:pPr>
            <a:r>
              <a:t>PROBLEM STATEMENT &amp; TASKS:</a:t>
            </a:r>
          </a:p>
          <a:p>
            <a:pPr>
              <a:defRPr sz="1600">
                <a:solidFill>
                  <a:srgbClr val="0F172A"/>
                </a:solidFill>
                <a:latin typeface="Arial"/>
              </a:defRPr>
            </a:pPr>
            <a:r>
              <a:t>Evaluate the double integral ∬_R (x² + y²) dx dy over circle ² + y² ≤ 4.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5257800"/>
            <a:ext cx="10698480" cy="868680"/>
          </a:xfrm>
          <a:prstGeom prst="roundRect">
            <a:avLst/>
          </a:prstGeom>
          <a:solidFill>
            <a:srgbClr val="EFF6FF"/>
          </a:solidFill>
          <a:ln w="12700">
            <a:solidFill>
              <a:srgbClr val="1E40A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000" b="1">
                <a:solidFill>
                  <a:srgbClr val="1E40AF"/>
                </a:solidFill>
                <a:latin typeface="Arial"/>
              </a:defRPr>
            </a:pPr>
            <a:r>
              <a:t>💡 EVALUATION &amp; ANSWER DIRECTIVES:</a:t>
            </a:r>
          </a:p>
          <a:p>
            <a:pPr>
              <a:defRPr sz="1000">
                <a:solidFill>
                  <a:srgbClr val="1E293B"/>
                </a:solidFill>
                <a:latin typeface="Arial"/>
              </a:defRPr>
            </a:pPr>
            <a:r>
              <a:t>Total Marks: 25  •  Candidates must demonstrate rigorous mathematical proof / textual substantiation and clearly outline final conclusions.</a:t>
            </a:r>
          </a:p>
        </p:txBody>
      </p:sp>
      <p:sp>
        <p:nvSpPr>
          <p:cNvPr id="8" name="Rectangle 7"/>
          <p:cNvSpPr/>
          <p:nvPr/>
        </p:nvSpPr>
        <p:spPr>
          <a:xfrm>
            <a:off x="0" y="6446520"/>
            <a:ext cx="12191695" cy="411480"/>
          </a:xfrm>
          <a:prstGeom prst="rect">
            <a:avLst/>
          </a:prstGeom>
          <a:solidFill>
            <a:srgbClr val="0F172A"/>
          </a:solidFill>
          <a:ln>
            <a:solidFill>
              <a:srgbClr val="0F17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48640" y="6473952"/>
            <a:ext cx="68580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50">
                <a:solidFill>
                  <a:srgbClr val="CBD5E1"/>
                </a:solidFill>
                <a:latin typeface="Arial"/>
              </a:defRPr>
            </a:pPr>
            <a:r>
              <a:t>ExamGen Autonomous Examination System  •  Test Examination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686800" y="6473952"/>
            <a:ext cx="29260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50">
                <a:solidFill>
                  <a:srgbClr val="CBD5E1"/>
                </a:solidFill>
                <a:latin typeface="Arial"/>
              </a:defRPr>
            </a:pPr>
            <a:r>
              <a:t>Slide 3 of 5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0F172A"/>
          </a:solidFill>
          <a:ln>
            <a:solidFill>
              <a:srgbClr val="0F17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51560"/>
            <a:ext cx="12191695" cy="36576"/>
          </a:xfrm>
          <a:prstGeom prst="rect">
            <a:avLst/>
          </a:prstGeom>
          <a:solidFill>
            <a:srgbClr val="0284C7"/>
          </a:solidFill>
          <a:ln>
            <a:solidFill>
              <a:srgbClr val="0284C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182880"/>
            <a:ext cx="80467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 b="1">
                <a:solidFill>
                  <a:srgbClr val="FFFFFF"/>
                </a:solidFill>
                <a:latin typeface="Arial"/>
              </a:defRPr>
            </a:pPr>
            <a:r>
              <a:t>Question 2  [25 Marks]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8961120" y="274320"/>
            <a:ext cx="2651760" cy="502920"/>
          </a:xfrm>
          <a:prstGeom prst="roundRect">
            <a:avLst/>
          </a:prstGeom>
          <a:solidFill>
            <a:srgbClr val="1E40AF"/>
          </a:solidFill>
          <a:ln>
            <a:solidFill>
              <a:srgbClr val="1E40A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200" b="1">
                <a:solidFill>
                  <a:srgbClr val="FFFFFF"/>
                </a:solidFill>
                <a:latin typeface="Arial"/>
              </a:defRPr>
            </a:pPr>
            <a:r>
              <a:t>📐 MATHEMATICS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325880"/>
            <a:ext cx="10698480" cy="3749039"/>
          </a:xfrm>
          <a:prstGeom prst="roundRect">
            <a:avLst/>
          </a:prstGeom>
          <a:solidFill>
            <a:srgbClr val="F8FAFC"/>
          </a:solidFill>
          <a:ln w="1524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200" b="1">
                <a:solidFill>
                  <a:srgbClr val="1E40AF"/>
                </a:solidFill>
                <a:latin typeface="Arial"/>
              </a:defRPr>
            </a:pPr>
            <a:r>
              <a:t>PROBLEM STATEMENT &amp; TASKS:</a:t>
            </a:r>
          </a:p>
          <a:p>
            <a:pPr>
              <a:defRPr sz="1600">
                <a:solidFill>
                  <a:srgbClr val="0F172A"/>
                </a:solidFill>
                <a:latin typeface="Arial"/>
              </a:defRPr>
            </a:pPr>
            <a:r>
              <a:t>Analyze the primary causes of the 1857 Revolt in India with reference to administrative policies.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5257800"/>
            <a:ext cx="10698480" cy="868680"/>
          </a:xfrm>
          <a:prstGeom prst="roundRect">
            <a:avLst/>
          </a:prstGeom>
          <a:solidFill>
            <a:srgbClr val="EFF6FF"/>
          </a:solidFill>
          <a:ln w="12700">
            <a:solidFill>
              <a:srgbClr val="1E40A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000" b="1">
                <a:solidFill>
                  <a:srgbClr val="1E40AF"/>
                </a:solidFill>
                <a:latin typeface="Arial"/>
              </a:defRPr>
            </a:pPr>
            <a:r>
              <a:t>💡 EVALUATION &amp; ANSWER DIRECTIVES:</a:t>
            </a:r>
          </a:p>
          <a:p>
            <a:pPr>
              <a:defRPr sz="1000">
                <a:solidFill>
                  <a:srgbClr val="1E293B"/>
                </a:solidFill>
                <a:latin typeface="Arial"/>
              </a:defRPr>
            </a:pPr>
            <a:r>
              <a:t>Total Marks: 25  •  Candidates must demonstrate rigorous mathematical proof / textual substantiation and clearly outline final conclusions.</a:t>
            </a:r>
          </a:p>
        </p:txBody>
      </p:sp>
      <p:sp>
        <p:nvSpPr>
          <p:cNvPr id="8" name="Rectangle 7"/>
          <p:cNvSpPr/>
          <p:nvPr/>
        </p:nvSpPr>
        <p:spPr>
          <a:xfrm>
            <a:off x="0" y="6446520"/>
            <a:ext cx="12191695" cy="411480"/>
          </a:xfrm>
          <a:prstGeom prst="rect">
            <a:avLst/>
          </a:prstGeom>
          <a:solidFill>
            <a:srgbClr val="0F172A"/>
          </a:solidFill>
          <a:ln>
            <a:solidFill>
              <a:srgbClr val="0F17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48640" y="6473952"/>
            <a:ext cx="68580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50">
                <a:solidFill>
                  <a:srgbClr val="CBD5E1"/>
                </a:solidFill>
                <a:latin typeface="Arial"/>
              </a:defRPr>
            </a:pPr>
            <a:r>
              <a:t>ExamGen Autonomous Examination System  •  Test Examination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686800" y="6473952"/>
            <a:ext cx="29260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50">
                <a:solidFill>
                  <a:srgbClr val="CBD5E1"/>
                </a:solidFill>
                <a:latin typeface="Arial"/>
              </a:defRPr>
            </a:pPr>
            <a:r>
              <a:t>Slide 4 of 5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0F172A"/>
          </a:solidFill>
          <a:ln>
            <a:solidFill>
              <a:srgbClr val="0F17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51560"/>
            <a:ext cx="12191695" cy="36576"/>
          </a:xfrm>
          <a:prstGeom prst="rect">
            <a:avLst/>
          </a:prstGeom>
          <a:solidFill>
            <a:srgbClr val="0284C7"/>
          </a:solidFill>
          <a:ln>
            <a:solidFill>
              <a:srgbClr val="0284C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182880"/>
            <a:ext cx="80467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 b="1">
                <a:solidFill>
                  <a:srgbClr val="FFFFFF"/>
                </a:solidFill>
                <a:latin typeface="Arial"/>
              </a:defRPr>
            </a:pPr>
            <a:r>
              <a:t>Examiner Marking Scheme &amp; Rubric Guidelines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8961120" y="274320"/>
            <a:ext cx="2651760" cy="502920"/>
          </a:xfrm>
          <a:prstGeom prst="roundRect">
            <a:avLst/>
          </a:prstGeom>
          <a:solidFill>
            <a:srgbClr val="059669"/>
          </a:solidFill>
          <a:ln>
            <a:solidFill>
              <a:srgbClr val="05966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200" b="1">
                <a:solidFill>
                  <a:srgbClr val="FFFFFF"/>
                </a:solidFill>
                <a:latin typeface="Arial"/>
              </a:defRPr>
            </a:pPr>
            <a:r>
              <a:t>GRADING RUBRIC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371600"/>
            <a:ext cx="10698480" cy="4663440"/>
          </a:xfrm>
          <a:prstGeom prst="roundRect">
            <a:avLst/>
          </a:prstGeom>
          <a:solidFill>
            <a:srgbClr val="F8FAFC"/>
          </a:solidFill>
          <a:ln w="1524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400" b="1">
                <a:solidFill>
                  <a:srgbClr val="0F172A"/>
                </a:solidFill>
                <a:latin typeface="Arial"/>
              </a:defRPr>
            </a:pPr>
            <a:r>
              <a:t>STANDARDIZED EVALUATION CHECKLIST &amp; MARK DISTRIBUTION</a:t>
            </a:r>
          </a:p>
          <a:p>
            <a:pPr>
              <a:defRPr sz="1150" b="1">
                <a:solidFill>
                  <a:srgbClr val="1E40AF"/>
                </a:solidFill>
                <a:latin typeface="Arial"/>
              </a:defRPr>
            </a:pPr>
            <a:r>
              <a:t>• Conceptual Understanding &amp; Formulation (30%)</a:t>
            </a:r>
          </a:p>
          <a:p>
            <a:pPr>
              <a:defRPr sz="1050">
                <a:solidFill>
                  <a:srgbClr val="1E293B"/>
                </a:solidFill>
                <a:latin typeface="Arial"/>
              </a:defRPr>
            </a:pPr>
            <a:r>
              <a:t>   Correct identification of applicable theorems, formulas, historical events, or core principles.</a:t>
            </a:r>
          </a:p>
          <a:p>
            <a:pPr>
              <a:defRPr sz="1150" b="1">
                <a:solidFill>
                  <a:srgbClr val="1E40AF"/>
                </a:solidFill>
                <a:latin typeface="Arial"/>
              </a:defRPr>
            </a:pPr>
            <a:r>
              <a:t>• Methodological Execution &amp; Working Steps (40%)</a:t>
            </a:r>
          </a:p>
          <a:p>
            <a:pPr>
              <a:defRPr sz="1050">
                <a:solidFill>
                  <a:srgbClr val="1E293B"/>
                </a:solidFill>
                <a:latin typeface="Arial"/>
              </a:defRPr>
            </a:pPr>
            <a:r>
              <a:t>   Logical sequence of derivations, intermediate algebraic steps, balanced chemical reactions, or source analysis.</a:t>
            </a:r>
          </a:p>
          <a:p>
            <a:pPr>
              <a:defRPr sz="1150" b="1">
                <a:solidFill>
                  <a:srgbClr val="1E40AF"/>
                </a:solidFill>
                <a:latin typeface="Arial"/>
              </a:defRPr>
            </a:pPr>
            <a:r>
              <a:t>• Accuracy &amp; Final Solution (20%)</a:t>
            </a:r>
          </a:p>
          <a:p>
            <a:pPr>
              <a:defRPr sz="1050">
                <a:solidFill>
                  <a:srgbClr val="1E293B"/>
                </a:solidFill>
                <a:latin typeface="Arial"/>
              </a:defRPr>
            </a:pPr>
            <a:r>
              <a:t>   Precise numerical results, correct physical units, or coherent synthesis of concluding arguments.</a:t>
            </a:r>
          </a:p>
          <a:p>
            <a:pPr>
              <a:defRPr sz="1150" b="1">
                <a:solidFill>
                  <a:srgbClr val="1E40AF"/>
                </a:solidFill>
                <a:latin typeface="Arial"/>
              </a:defRPr>
            </a:pPr>
            <a:r>
              <a:t>• Diagrams, Notation &amp; Presentation (10%)</a:t>
            </a:r>
          </a:p>
          <a:p>
            <a:pPr>
              <a:defRPr sz="1050">
                <a:solidFill>
                  <a:srgbClr val="1E293B"/>
                </a:solidFill>
                <a:latin typeface="Arial"/>
              </a:defRPr>
            </a:pPr>
            <a:r>
              <a:t>   Neatness, accurate diagram labeling, standard mathematical/scientific notation, and clarity.</a:t>
            </a:r>
          </a:p>
        </p:txBody>
      </p:sp>
      <p:sp>
        <p:nvSpPr>
          <p:cNvPr id="7" name="Rectangle 6"/>
          <p:cNvSpPr/>
          <p:nvPr/>
        </p:nvSpPr>
        <p:spPr>
          <a:xfrm>
            <a:off x="0" y="6446520"/>
            <a:ext cx="12191695" cy="411480"/>
          </a:xfrm>
          <a:prstGeom prst="rect">
            <a:avLst/>
          </a:prstGeom>
          <a:solidFill>
            <a:srgbClr val="0F172A"/>
          </a:solidFill>
          <a:ln>
            <a:solidFill>
              <a:srgbClr val="0F17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48640" y="6473952"/>
            <a:ext cx="68580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50">
                <a:solidFill>
                  <a:srgbClr val="CBD5E1"/>
                </a:solidFill>
                <a:latin typeface="Arial"/>
              </a:defRPr>
            </a:pPr>
            <a:r>
              <a:t>ExamGen Autonomous Examination System  •  Test Examination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686800" y="6473952"/>
            <a:ext cx="29260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50">
                <a:solidFill>
                  <a:srgbClr val="CBD5E1"/>
                </a:solidFill>
                <a:latin typeface="Arial"/>
              </a:defRPr>
            </a:pPr>
            <a:r>
              <a:t>Slide 5 of 5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