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 Notes:</a:t>
            </a:r>
          </a:p>
          <a:p>
            <a:r>
              <a:t>- Allocated Marks: 25</a:t>
            </a:r>
          </a:p>
          <a:p>
            <a:r>
              <a:t>- Subject: History</a:t>
            </a:r>
          </a:p>
          <a:p>
            <a:r>
              <a:t>- Text: Explain how the surrender of the Axis powers in 1945 led to the creation of the United Nations. In your answer, discuss the key provisions of the UN Charter that were designed to prevent future global conflicts and evaluate the extent to which the UN has succeeded in maintaining international peace since its founding.</a:t>
            </a:r>
          </a:p>
          <a:p>
            <a:r>
              <a:t>- Marking Guidance: Award full marks for complete and rigorous answers. Deduct marks for missing steps, wrong algebraic units, or lack of critical citations.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2 Notes:</a:t>
            </a:r>
          </a:p>
          <a:p>
            <a:r>
              <a:t>- Allocated Marks: 25</a:t>
            </a:r>
          </a:p>
          <a:p>
            <a:r>
              <a:t>- Subject: History</a:t>
            </a:r>
          </a:p>
          <a:p>
            <a:r>
              <a:t>- Text: Analyze the Indian Independence Act of 1947 as a turning point in the process of decolonization. Compare its impact on British imperial policy with that of another decolonization case study of your choice (e.g., Ghana 1957, Algeria 1962, or Indonesia 1949). Discuss the political, social, and economic consequences of partition for the newly formed states of India and Pakistan.</a:t>
            </a:r>
          </a:p>
          <a:p>
            <a:r>
              <a:t>- Marking Guidance: Award full marks for complete and rigorous answers. Deduct marks for missing steps, wrong algebraic units, or lack of critical citations.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926080" cy="438912"/>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 HISTORY &amp; HUMANITIES</a:t>
            </a:r>
          </a:p>
        </p:txBody>
      </p:sp>
      <p:sp>
        <p:nvSpPr>
          <p:cNvPr id="5" name="TextBox 4"/>
          <p:cNvSpPr txBox="1"/>
          <p:nvPr/>
        </p:nvSpPr>
        <p:spPr>
          <a:xfrm>
            <a:off x="731520" y="1051560"/>
            <a:ext cx="10698480" cy="1280160"/>
          </a:xfrm>
          <a:prstGeom prst="rect">
            <a:avLst/>
          </a:prstGeom>
          <a:noFill/>
        </p:spPr>
        <p:txBody>
          <a:bodyPr wrap="square">
            <a:spAutoFit/>
          </a:bodyPr>
          <a:lstStyle/>
          <a:p>
            <a:pPr>
              <a:defRPr sz="2800" b="1">
                <a:solidFill>
                  <a:srgbClr val="FFFFFF"/>
                </a:solidFill>
                <a:latin typeface="Arial"/>
              </a:defRPr>
            </a:pPr>
            <a:r>
              <a:t>WORLD WAR II &amp; DECOLONIZATION</a:t>
            </a:r>
          </a:p>
          <a:p>
            <a:pPr>
              <a:defRPr sz="1300">
                <a:solidFill>
                  <a:srgbClr val="CBD5E1"/>
                </a:solidFill>
                <a:latin typeface="Arial"/>
              </a:defRPr>
            </a:pPr>
            <a:r>
              <a:t>Official University / Board Level Comprehensive Examination Paper</a:t>
            </a:r>
          </a:p>
        </p:txBody>
      </p:sp>
      <p:sp>
        <p:nvSpPr>
          <p:cNvPr id="6" name="Rounded Rectangle 5"/>
          <p:cNvSpPr/>
          <p:nvPr/>
        </p:nvSpPr>
        <p:spPr>
          <a:xfrm>
            <a:off x="731520"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Total Max Marks</a:t>
            </a:r>
          </a:p>
          <a:p>
            <a:pPr>
              <a:defRPr sz="1700" b="1">
                <a:solidFill>
                  <a:srgbClr val="0F172A"/>
                </a:solidFill>
                <a:latin typeface="Arial"/>
              </a:defRPr>
            </a:pPr>
            <a:r>
              <a:t>50 Marks</a:t>
            </a:r>
          </a:p>
        </p:txBody>
      </p:sp>
      <p:sp>
        <p:nvSpPr>
          <p:cNvPr id="7" name="Rounded Rectangle 6"/>
          <p:cNvSpPr/>
          <p:nvPr/>
        </p:nvSpPr>
        <p:spPr>
          <a:xfrm>
            <a:off x="4407408"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Question Count</a:t>
            </a:r>
          </a:p>
          <a:p>
            <a:pPr>
              <a:defRPr sz="1700" b="1">
                <a:solidFill>
                  <a:srgbClr val="0F172A"/>
                </a:solidFill>
                <a:latin typeface="Arial"/>
              </a:defRPr>
            </a:pPr>
            <a:r>
              <a:t>2 Problems</a:t>
            </a:r>
          </a:p>
        </p:txBody>
      </p:sp>
      <p:sp>
        <p:nvSpPr>
          <p:cNvPr id="8" name="Rounded Rectangle 7"/>
          <p:cNvSpPr/>
          <p:nvPr/>
        </p:nvSpPr>
        <p:spPr>
          <a:xfrm>
            <a:off x="8083296"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Duration / Time</a:t>
            </a:r>
          </a:p>
          <a:p>
            <a:pPr>
              <a:defRPr sz="1700" b="1">
                <a:solidFill>
                  <a:srgbClr val="0F172A"/>
                </a:solidFill>
                <a:latin typeface="Arial"/>
              </a:defRPr>
            </a:pPr>
            <a:r>
              <a:t>3 Hours (180 Mins)</a:t>
            </a:r>
          </a:p>
        </p:txBody>
      </p:sp>
      <p:sp>
        <p:nvSpPr>
          <p:cNvPr id="9" name="Rounded Rectangle 8"/>
          <p:cNvSpPr/>
          <p:nvPr/>
        </p:nvSpPr>
        <p:spPr>
          <a:xfrm>
            <a:off x="731520" y="4572000"/>
            <a:ext cx="10698480" cy="1645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 CANDIDATE GENERAL INSTRUCTIONS:</a:t>
            </a:r>
          </a:p>
          <a:p>
            <a:pPr>
              <a:defRPr sz="1050">
                <a:solidFill>
                  <a:srgbClr val="1E293B"/>
                </a:solidFill>
                <a:latin typeface="Arial"/>
              </a:defRPr>
            </a:pPr>
            <a:r>
              <a:t>1. All questions are compulsory unless specified otherwise. Marks are indicated against each question.</a:t>
            </a:r>
          </a:p>
          <a:p>
            <a:pPr>
              <a:defRPr sz="1050">
                <a:solidFill>
                  <a:srgbClr val="1E293B"/>
                </a:solidFill>
                <a:latin typeface="Arial"/>
              </a:defRPr>
            </a:pPr>
            <a:r>
              <a:t>2. For mathematical &amp; scientific problems, show complete step-by-step derivations, calculations, and state appropriate units.</a:t>
            </a:r>
          </a:p>
          <a:p>
            <a:pPr>
              <a:defRPr sz="1050">
                <a:solidFill>
                  <a:srgbClr val="1E293B"/>
                </a:solidFill>
                <a:latin typeface="Arial"/>
              </a:defRPr>
            </a:pPr>
            <a:r>
              <a:t>3. For humanities &amp; history questions, provide structured source analysis, contextual evidence, and critical reasoning.</a:t>
            </a:r>
          </a:p>
          <a:p>
            <a:pPr>
              <a:defRPr sz="1050">
                <a:solidFill>
                  <a:srgbClr val="1E293B"/>
                </a:solidFill>
                <a:latin typeface="Arial"/>
              </a:defRPr>
            </a:pPr>
            <a:r>
              <a:t>4. Neat, labeled diagrams and plots must be provided wherever asked.</a:t>
            </a:r>
          </a:p>
        </p:txBody>
      </p:sp>
      <p:sp>
        <p:nvSpPr>
          <p:cNvPr id="10" name="Rectangle 9"/>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12" name="TextBox 11"/>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Exam Blueprint &amp; Questions Overview</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graphicFrame>
        <p:nvGraphicFramePr>
          <p:cNvPr id="6" name="Table 5"/>
          <p:cNvGraphicFramePr>
            <a:graphicFrameLocks noGrp="1"/>
          </p:cNvGraphicFramePr>
          <p:nvPr/>
        </p:nvGraphicFramePr>
        <p:xfrm>
          <a:off x="731520" y="1417320"/>
          <a:ext cx="10698480" cy="1316736"/>
        </p:xfrm>
        <a:graphic>
          <a:graphicData uri="http://schemas.openxmlformats.org/drawingml/2006/table">
            <a:tbl>
              <a:tblPr firstRow="1" bandRow="1">
                <a:tableStyleId>{5C22544A-7EE6-4342-B048-85BDC9FD1C3A}</a:tableStyleId>
              </a:tblPr>
              <a:tblGrid>
                <a:gridCol w="1371600"/>
                <a:gridCol w="6217920"/>
                <a:gridCol w="1645920"/>
                <a:gridCol w="1463040"/>
              </a:tblGrid>
              <a:tr h="438912">
                <a:tc>
                  <a:txBody>
                    <a:bodyPr/>
                    <a:lstStyle/>
                    <a:p>
                      <a:pPr algn="ctr">
                        <a:defRPr sz="1100" b="1">
                          <a:solidFill>
                            <a:srgbClr val="FFFFFF"/>
                          </a:solidFill>
                          <a:latin typeface="Arial"/>
                        </a:defRPr>
                      </a:pPr>
                      <a:r>
                        <a:t>Question #</a:t>
                      </a:r>
                    </a:p>
                  </a:txBody>
                  <a:tcPr>
                    <a:solidFill>
                      <a:srgbClr val="0F172A"/>
                    </a:solidFill>
                  </a:tcPr>
                </a:tc>
                <a:tc>
                  <a:txBody>
                    <a:bodyPr/>
                    <a:lstStyle/>
                    <a:p>
                      <a:pPr algn="l">
                        <a:defRPr sz="1100" b="1">
                          <a:solidFill>
                            <a:srgbClr val="FFFFFF"/>
                          </a:solidFill>
                          <a:latin typeface="Arial"/>
                        </a:defRPr>
                      </a:pPr>
                      <a:r>
                        <a:t>Topic / Problem Focus</a:t>
                      </a:r>
                    </a:p>
                  </a:txBody>
                  <a:tcPr>
                    <a:solidFill>
                      <a:srgbClr val="0F172A"/>
                    </a:solidFill>
                  </a:tcPr>
                </a:tc>
                <a:tc>
                  <a:txBody>
                    <a:bodyPr/>
                    <a:lstStyle/>
                    <a:p>
                      <a:pPr algn="ctr">
                        <a:defRPr sz="1100" b="1">
                          <a:solidFill>
                            <a:srgbClr val="FFFFFF"/>
                          </a:solidFill>
                          <a:latin typeface="Arial"/>
                        </a:defRPr>
                      </a:pPr>
                      <a:r>
                        <a:t>Allocated Marks</a:t>
                      </a:r>
                    </a:p>
                  </a:txBody>
                  <a:tcPr>
                    <a:solidFill>
                      <a:srgbClr val="0F172A"/>
                    </a:solidFill>
                  </a:tcPr>
                </a:tc>
                <a:tc>
                  <a:txBody>
                    <a:bodyPr/>
                    <a:lstStyle/>
                    <a:p>
                      <a:pPr algn="ctr">
                        <a:defRPr sz="1100" b="1">
                          <a:solidFill>
                            <a:srgbClr val="FFFFFF"/>
                          </a:solidFill>
                          <a:latin typeface="Arial"/>
                        </a:defRPr>
                      </a:pPr>
                      <a:r>
                        <a:t>Visual Diagram</a:t>
                      </a:r>
                    </a:p>
                  </a:txBody>
                  <a:tcPr>
                    <a:solidFill>
                      <a:srgbClr val="0F172A"/>
                    </a:solidFill>
                  </a:tcPr>
                </a:tc>
              </a:tr>
              <a:tr h="438912">
                <a:tc>
                  <a:txBody>
                    <a:bodyPr/>
                    <a:lstStyle/>
                    <a:p>
                      <a:pPr algn="ctr">
                        <a:defRPr sz="1000">
                          <a:solidFill>
                            <a:srgbClr val="0F172A"/>
                          </a:solidFill>
                          <a:latin typeface="Arial"/>
                        </a:defRPr>
                      </a:pPr>
                      <a:r>
                        <a:t>Question 1</a:t>
                      </a:r>
                    </a:p>
                  </a:txBody>
                  <a:tcPr>
                    <a:solidFill>
                      <a:srgbClr val="FFFFFF"/>
                    </a:solidFill>
                  </a:tcPr>
                </a:tc>
                <a:tc>
                  <a:txBody>
                    <a:bodyPr/>
                    <a:lstStyle/>
                    <a:p>
                      <a:pPr>
                        <a:defRPr sz="1000">
                          <a:solidFill>
                            <a:srgbClr val="0F172A"/>
                          </a:solidFill>
                          <a:latin typeface="Arial"/>
                        </a:defRPr>
                      </a:pPr>
                      <a:r>
                        <a:t>Explain how the surrender of the Axis powers in 1945 led to the creation of the United Nat...</a:t>
                      </a:r>
                    </a:p>
                  </a:txBody>
                  <a:tcPr>
                    <a:solidFill>
                      <a:srgbClr val="FFFFFF"/>
                    </a:solidFill>
                  </a:tcPr>
                </a:tc>
                <a:tc>
                  <a:txBody>
                    <a:bodyPr/>
                    <a:lstStyle/>
                    <a:p>
                      <a:pPr algn="ctr">
                        <a:defRPr sz="1000" b="1">
                          <a:solidFill>
                            <a:srgbClr val="1E40AF"/>
                          </a:solidFill>
                          <a:latin typeface="Arial"/>
                        </a:defRPr>
                      </a:pPr>
                      <a:r>
                        <a:t>25 Marks</a:t>
                      </a:r>
                    </a:p>
                  </a:txBody>
                  <a:tcPr>
                    <a:solidFill>
                      <a:srgbClr val="FFFFFF"/>
                    </a:solidFill>
                  </a:tcPr>
                </a:tc>
                <a:tc>
                  <a:txBody>
                    <a:bodyPr/>
                    <a:lstStyle/>
                    <a:p>
                      <a:pPr algn="ctr">
                        <a:defRPr sz="1000">
                          <a:solidFill>
                            <a:srgbClr val="0F172A"/>
                          </a:solidFill>
                          <a:latin typeface="Arial"/>
                        </a:defRPr>
                      </a:pPr>
                      <a:r>
                        <a:t>Standard</a:t>
                      </a:r>
                    </a:p>
                  </a:txBody>
                  <a:tcPr>
                    <a:solidFill>
                      <a:srgbClr val="FFFFFF"/>
                    </a:solidFill>
                  </a:tcPr>
                </a:tc>
              </a:tr>
              <a:tr h="438912">
                <a:tc>
                  <a:txBody>
                    <a:bodyPr/>
                    <a:lstStyle/>
                    <a:p>
                      <a:pPr algn="ctr">
                        <a:defRPr sz="1000">
                          <a:solidFill>
                            <a:srgbClr val="0F172A"/>
                          </a:solidFill>
                          <a:latin typeface="Arial"/>
                        </a:defRPr>
                      </a:pPr>
                      <a:r>
                        <a:t>Question 2</a:t>
                      </a:r>
                    </a:p>
                  </a:txBody>
                  <a:tcPr>
                    <a:solidFill>
                      <a:srgbClr val="F8FAFC"/>
                    </a:solidFill>
                  </a:tcPr>
                </a:tc>
                <a:tc>
                  <a:txBody>
                    <a:bodyPr/>
                    <a:lstStyle/>
                    <a:p>
                      <a:pPr>
                        <a:defRPr sz="1000">
                          <a:solidFill>
                            <a:srgbClr val="0F172A"/>
                          </a:solidFill>
                          <a:latin typeface="Arial"/>
                        </a:defRPr>
                      </a:pPr>
                      <a:r>
                        <a:t>Analyze the Indian Independence Act of 1947 as a turning point in the process of decoloniz...</a:t>
                      </a:r>
                    </a:p>
                  </a:txBody>
                  <a:tcPr>
                    <a:solidFill>
                      <a:srgbClr val="F8FAFC"/>
                    </a:solidFill>
                  </a:tcPr>
                </a:tc>
                <a:tc>
                  <a:txBody>
                    <a:bodyPr/>
                    <a:lstStyle/>
                    <a:p>
                      <a:pPr algn="ctr">
                        <a:defRPr sz="1000" b="1">
                          <a:solidFill>
                            <a:srgbClr val="1E40AF"/>
                          </a:solidFill>
                          <a:latin typeface="Arial"/>
                        </a:defRPr>
                      </a:pPr>
                      <a:r>
                        <a:t>25 Marks</a:t>
                      </a:r>
                    </a:p>
                  </a:txBody>
                  <a:tcPr>
                    <a:solidFill>
                      <a:srgbClr val="F8FAFC"/>
                    </a:solidFill>
                  </a:tcPr>
                </a:tc>
                <a:tc>
                  <a:txBody>
                    <a:bodyPr/>
                    <a:lstStyle/>
                    <a:p>
                      <a:pPr algn="ctr">
                        <a:defRPr sz="1000">
                          <a:solidFill>
                            <a:srgbClr val="0F172A"/>
                          </a:solidFill>
                          <a:latin typeface="Arial"/>
                        </a:defRPr>
                      </a:pPr>
                      <a:r>
                        <a:t>Standard</a:t>
                      </a:r>
                    </a:p>
                  </a:txBody>
                  <a:tcPr>
                    <a:solidFill>
                      <a:srgbClr val="F8FAFC"/>
                    </a:solidFill>
                  </a:tcPr>
                </a:tc>
              </a:tr>
            </a:tbl>
          </a:graphicData>
        </a:graphic>
      </p:graphicFrame>
      <p:sp>
        <p:nvSpPr>
          <p:cNvPr id="7" name="Rectangle 6"/>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9" name="TextBox 8"/>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2 of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Question 1  [25 Marks]</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sp>
        <p:nvSpPr>
          <p:cNvPr id="6" name="Rounded Rectangle 5"/>
          <p:cNvSpPr/>
          <p:nvPr/>
        </p:nvSpPr>
        <p:spPr>
          <a:xfrm>
            <a:off x="731520" y="1325880"/>
            <a:ext cx="10698480" cy="374903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PROBLEM STATEMENT &amp; TASKS:</a:t>
            </a:r>
          </a:p>
          <a:p>
            <a:pPr>
              <a:defRPr sz="1500">
                <a:solidFill>
                  <a:srgbClr val="0F172A"/>
                </a:solidFill>
                <a:latin typeface="Arial"/>
              </a:defRPr>
            </a:pPr>
            <a:r>
              <a:t>Explain how the surrender of the Axis powers in 1945 led to the creation of the United Nations. In your answer, discuss the key provisions of the UN Charter that were designed to prevent future global conflicts and evaluate the extent to which the UN has succeeded in maintaining international peace since its founding.</a:t>
            </a:r>
          </a:p>
        </p:txBody>
      </p:sp>
      <p:sp>
        <p:nvSpPr>
          <p:cNvPr id="7" name="Rounded Rectangle 6"/>
          <p:cNvSpPr/>
          <p:nvPr/>
        </p:nvSpPr>
        <p:spPr>
          <a:xfrm>
            <a:off x="731520" y="5257800"/>
            <a:ext cx="10698480" cy="86868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40AF"/>
                </a:solidFill>
                <a:latin typeface="Arial"/>
              </a:defRPr>
            </a:pPr>
            <a:r>
              <a:t>💡 EVALUATION &amp; ANSWER DIRECTIVES:</a:t>
            </a:r>
          </a:p>
          <a:p>
            <a:pPr>
              <a:defRPr sz="1000">
                <a:solidFill>
                  <a:srgbClr val="1E293B"/>
                </a:solidFill>
                <a:latin typeface="Arial"/>
              </a:defRPr>
            </a:pPr>
            <a:r>
              <a:t>Total Marks: 25  •  Candidates must demonstrate rigorous mathematical proof / textual substantiation and clearly outline final conclusions.</a:t>
            </a:r>
          </a:p>
        </p:txBody>
      </p:sp>
      <p:sp>
        <p:nvSpPr>
          <p:cNvPr id="8" name="Rectangle 7"/>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10" name="TextBox 9"/>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3 of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Question 2  [25 Marks]</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sp>
        <p:nvSpPr>
          <p:cNvPr id="6" name="Rounded Rectangle 5"/>
          <p:cNvSpPr/>
          <p:nvPr/>
        </p:nvSpPr>
        <p:spPr>
          <a:xfrm>
            <a:off x="731520" y="1325880"/>
            <a:ext cx="10698480" cy="374903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PROBLEM STATEMENT &amp; TASKS:</a:t>
            </a:r>
          </a:p>
          <a:p>
            <a:pPr>
              <a:defRPr sz="1500">
                <a:solidFill>
                  <a:srgbClr val="0F172A"/>
                </a:solidFill>
                <a:latin typeface="Arial"/>
              </a:defRPr>
            </a:pPr>
            <a:r>
              <a:t>Analyze the Indian Independence Act of 1947 as a turning point in the process of decolonization. Compare its impact on British imperial policy with that of another decolonization case study of your choice (e.g., Ghana 1957, Algeria 1962, or Indonesia 1949). Discuss the political, social, and economic consequences of partition for the newly formed states of India and Pakistan.</a:t>
            </a:r>
          </a:p>
        </p:txBody>
      </p:sp>
      <p:sp>
        <p:nvSpPr>
          <p:cNvPr id="7" name="Rounded Rectangle 6"/>
          <p:cNvSpPr/>
          <p:nvPr/>
        </p:nvSpPr>
        <p:spPr>
          <a:xfrm>
            <a:off x="731520" y="5257800"/>
            <a:ext cx="10698480" cy="86868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40AF"/>
                </a:solidFill>
                <a:latin typeface="Arial"/>
              </a:defRPr>
            </a:pPr>
            <a:r>
              <a:t>💡 EVALUATION &amp; ANSWER DIRECTIVES:</a:t>
            </a:r>
          </a:p>
          <a:p>
            <a:pPr>
              <a:defRPr sz="1000">
                <a:solidFill>
                  <a:srgbClr val="1E293B"/>
                </a:solidFill>
                <a:latin typeface="Arial"/>
              </a:defRPr>
            </a:pPr>
            <a:r>
              <a:t>Total Marks: 25  •  Candidates must demonstrate rigorous mathematical proof / textual substantiation and clearly outline final conclusions.</a:t>
            </a:r>
          </a:p>
        </p:txBody>
      </p:sp>
      <p:sp>
        <p:nvSpPr>
          <p:cNvPr id="8" name="Rectangle 7"/>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10" name="TextBox 9"/>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4 of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Examiner Marking Scheme &amp; Rubric Guidelines</a:t>
            </a:r>
          </a:p>
        </p:txBody>
      </p:sp>
      <p:sp>
        <p:nvSpPr>
          <p:cNvPr id="5" name="Rounded Rectangle 4"/>
          <p:cNvSpPr/>
          <p:nvPr/>
        </p:nvSpPr>
        <p:spPr>
          <a:xfrm>
            <a:off x="8961120" y="274320"/>
            <a:ext cx="2651760" cy="502920"/>
          </a:xfrm>
          <a:prstGeom prst="round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GRADING RUBRIC</a:t>
            </a:r>
          </a:p>
        </p:txBody>
      </p:sp>
      <p:sp>
        <p:nvSpPr>
          <p:cNvPr id="6" name="Rounded Rectangle 5"/>
          <p:cNvSpPr/>
          <p:nvPr/>
        </p:nvSpPr>
        <p:spPr>
          <a:xfrm>
            <a:off x="731520" y="1371600"/>
            <a:ext cx="10698480" cy="4663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F172A"/>
                </a:solidFill>
                <a:latin typeface="Arial"/>
              </a:defRPr>
            </a:pPr>
            <a:r>
              <a:t>STANDARDIZED EVALUATION CHECKLIST &amp; MARK DISTRIBUTION</a:t>
            </a:r>
          </a:p>
          <a:p>
            <a:pPr>
              <a:defRPr sz="1150" b="1">
                <a:solidFill>
                  <a:srgbClr val="1E40AF"/>
                </a:solidFill>
                <a:latin typeface="Arial"/>
              </a:defRPr>
            </a:pPr>
            <a:r>
              <a:t>• Conceptual Understanding &amp; Formulation (30%)</a:t>
            </a:r>
          </a:p>
          <a:p>
            <a:pPr>
              <a:defRPr sz="1050">
                <a:solidFill>
                  <a:srgbClr val="1E293B"/>
                </a:solidFill>
                <a:latin typeface="Arial"/>
              </a:defRPr>
            </a:pPr>
            <a:r>
              <a:t>   Correct identification of applicable theorems, formulas, historical events, or core principles.</a:t>
            </a:r>
          </a:p>
          <a:p>
            <a:pPr>
              <a:defRPr sz="1150" b="1">
                <a:solidFill>
                  <a:srgbClr val="1E40AF"/>
                </a:solidFill>
                <a:latin typeface="Arial"/>
              </a:defRPr>
            </a:pPr>
            <a:r>
              <a:t>• Methodological Execution &amp; Working Steps (40%)</a:t>
            </a:r>
          </a:p>
          <a:p>
            <a:pPr>
              <a:defRPr sz="1050">
                <a:solidFill>
                  <a:srgbClr val="1E293B"/>
                </a:solidFill>
                <a:latin typeface="Arial"/>
              </a:defRPr>
            </a:pPr>
            <a:r>
              <a:t>   Logical sequence of derivations, intermediate algebraic steps, balanced chemical reactions, or source analysis.</a:t>
            </a:r>
          </a:p>
          <a:p>
            <a:pPr>
              <a:defRPr sz="1150" b="1">
                <a:solidFill>
                  <a:srgbClr val="1E40AF"/>
                </a:solidFill>
                <a:latin typeface="Arial"/>
              </a:defRPr>
            </a:pPr>
            <a:r>
              <a:t>• Accuracy &amp; Final Solution (20%)</a:t>
            </a:r>
          </a:p>
          <a:p>
            <a:pPr>
              <a:defRPr sz="1050">
                <a:solidFill>
                  <a:srgbClr val="1E293B"/>
                </a:solidFill>
                <a:latin typeface="Arial"/>
              </a:defRPr>
            </a:pPr>
            <a:r>
              <a:t>   Precise numerical results, correct physical units, or coherent synthesis of concluding arguments.</a:t>
            </a:r>
          </a:p>
          <a:p>
            <a:pPr>
              <a:defRPr sz="1150" b="1">
                <a:solidFill>
                  <a:srgbClr val="1E40AF"/>
                </a:solidFill>
                <a:latin typeface="Arial"/>
              </a:defRPr>
            </a:pPr>
            <a:r>
              <a:t>• Diagrams, Notation &amp; Presentation (10%)</a:t>
            </a:r>
          </a:p>
          <a:p>
            <a:pPr>
              <a:defRPr sz="1050">
                <a:solidFill>
                  <a:srgbClr val="1E293B"/>
                </a:solidFill>
                <a:latin typeface="Arial"/>
              </a:defRPr>
            </a:pPr>
            <a:r>
              <a:t>   Neatness, accurate diagram labeling, standard mathematical/scientific notation, and clarity.</a:t>
            </a:r>
          </a:p>
        </p:txBody>
      </p:sp>
      <p:sp>
        <p:nvSpPr>
          <p:cNvPr id="7" name="Rectangle 6"/>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World War II &amp; Decolonization</a:t>
            </a:r>
          </a:p>
        </p:txBody>
      </p:sp>
      <p:sp>
        <p:nvSpPr>
          <p:cNvPr id="9" name="TextBox 8"/>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5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