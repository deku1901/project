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1 Notes:</a:t>
            </a:r>
          </a:p>
          <a:p>
            <a:r>
              <a:t>- Allocated Marks: 25</a:t>
            </a:r>
          </a:p>
          <a:p>
            <a:r>
              <a:t>- Subject: Mathematics</a:t>
            </a:r>
          </a:p>
          <a:p>
            <a:r>
              <a:t>- Text: Evaluate the definite integral \(∫[0 to 1] x² eˣ , dx\) using integration by parts. Show all steps and simplify the final answer.</a:t>
            </a:r>
          </a:p>
          <a:p>
            <a:r>
              <a:t>- Marking Guidance: Award full marks for complete and rigorous answers. Deduct marks for missing steps, wrong algebraic units, or lack of critical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2 Notes:</a:t>
            </a:r>
          </a:p>
          <a:p>
            <a:r>
              <a:t>- Allocated Marks: 25</a:t>
            </a:r>
          </a:p>
          <a:p>
            <a:r>
              <a:t>- Subject: Mathematics</a:t>
            </a:r>
          </a:p>
          <a:p>
            <a:r>
              <a:t>- Text: Solve the first-order linear differential equation \((dy / dx) + 2y = 4e^{-x}\) with the initial condition \(y(0)=1\). Provide the explicit solution \(y(x)\).</a:t>
            </a:r>
          </a:p>
          <a:p>
            <a:r>
              <a:t>- Marking Guidance: Award full marks for complete and rigorous answers. Deduct marks for missing steps, wrong algebraic units, or lack of critical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3 Notes:</a:t>
            </a:r>
          </a:p>
          <a:p>
            <a:r>
              <a:t>- Allocated Marks: 25</a:t>
            </a:r>
          </a:p>
          <a:p>
            <a:r>
              <a:t>- Subject: Mathematics</a:t>
            </a:r>
          </a:p>
          <a:p>
            <a:r>
              <a:t>- Text: Consider the scalar field \(u(x,y) = x² y - y³\).(a) Compute the gradient \(∇ u\) at the point \((1,-1)\).(b) Find the directional derivative of \(u\) at \((1,-1)\) in the direction of the vector \(v = (3,4)\).(c) Sketch the surface \(z = u(x,y)\) over the region \(-2 ≤ x ≤ 2\), \(-2 ≤ y ≤ 2\).</a:t>
            </a:r>
          </a:p>
          <a:p>
            <a:r>
              <a:t>- Marking Guidance: Award full marks for complete and rigorous answers. Deduct marks for missing steps, wrong algebraic units, or lack of critical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457200"/>
            <a:ext cx="2926080" cy="438912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📐 MATHEMATICS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CALCULUS AND DIFFERENTIAL EQUATIONS</a:t>
            </a:r>
          </a:p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Official University / Board Level Comprehensive Examination Paper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46120"/>
            <a:ext cx="3328416" cy="1097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475569"/>
                </a:solidFill>
                <a:latin typeface="Arial"/>
              </a:defRPr>
            </a:pPr>
            <a:r>
              <a:t>🏆  Total Max Marks</a:t>
            </a:r>
          </a:p>
          <a:p>
            <a:pPr>
              <a:defRPr sz="1700" b="1">
                <a:solidFill>
                  <a:srgbClr val="0F172A"/>
                </a:solidFill>
                <a:latin typeface="Arial"/>
              </a:defRPr>
            </a:pPr>
            <a:r>
              <a:t>75 Marks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3246120"/>
            <a:ext cx="3328416" cy="1097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475569"/>
                </a:solidFill>
                <a:latin typeface="Arial"/>
              </a:defRPr>
            </a:pPr>
            <a:r>
              <a:t>📝  Question Count</a:t>
            </a:r>
          </a:p>
          <a:p>
            <a:pPr>
              <a:defRPr sz="1700" b="1">
                <a:solidFill>
                  <a:srgbClr val="0F172A"/>
                </a:solidFill>
                <a:latin typeface="Arial"/>
              </a:defRPr>
            </a:pPr>
            <a:r>
              <a:t>3 Problems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3246120"/>
            <a:ext cx="3328416" cy="1097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475569"/>
                </a:solidFill>
                <a:latin typeface="Arial"/>
              </a:defRPr>
            </a:pPr>
            <a:r>
              <a:t>⏱️  Duration / Time</a:t>
            </a:r>
          </a:p>
          <a:p>
            <a:pPr>
              <a:defRPr sz="1700" b="1">
                <a:solidFill>
                  <a:srgbClr val="0F172A"/>
                </a:solidFill>
                <a:latin typeface="Arial"/>
              </a:defRPr>
            </a:pPr>
            <a:r>
              <a:t>3 Hours (180 Mins)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0"/>
            <a:ext cx="10698480" cy="16459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  <a:latin typeface="Arial"/>
              </a:defRPr>
            </a:pPr>
            <a:r>
              <a:t>📋 CANDIDATE GENERAL INSTRUCTIONS: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1. All questions are compulsory unless specified otherwise. Marks are indicated against each question.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2. For mathematical &amp; scientific problems, show complete step-by-step derivations, calculations, and state appropriate units.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3. For humanities &amp; history questions, provide structured source analysis, contextual evidence, and critical reasoning.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4. Neat, labeled diagrams and plots must be provided wherever asked.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Calculus and Differential Equations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Exam Blueprint &amp; Questions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74320"/>
            <a:ext cx="2651760" cy="5029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📐 MATHEMATICS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17320"/>
          <a:ext cx="1069848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6217920"/>
                <a:gridCol w="1645920"/>
                <a:gridCol w="1463040"/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Question #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Topic / Problem Focus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Allocated Marks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Visual Diagram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Question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Evaluate the definite integral \(∫[0 to 1] x² eˣ , dx\) using integration by parts. Show a...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40AF"/>
                          </a:solidFill>
                          <a:latin typeface="Arial"/>
                        </a:defRPr>
                      </a:pPr>
                      <a:r>
                        <a:t>25 Marks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Question 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Solve the first-order linear differential equation \((dy / dx) + 2y = 4e^{-x}\) with the i...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40AF"/>
                          </a:solidFill>
                          <a:latin typeface="Arial"/>
                        </a:defRPr>
                      </a:pPr>
                      <a:r>
                        <a:t>25 Marks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Question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Consider the scalar field \(u(x,y) = x² y - y³\).(a) Compute the gradient \(∇ u\) at the p...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40AF"/>
                          </a:solidFill>
                          <a:latin typeface="Arial"/>
                        </a:defRPr>
                      </a:pPr>
                      <a:r>
                        <a:t>25 Marks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Calculus and Differential Equations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Question 1  [25 Marks]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74320"/>
            <a:ext cx="2651760" cy="5029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📐 MATHEMATICS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698480" cy="3749039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  <a:latin typeface="Arial"/>
              </a:defRPr>
            </a:pPr>
            <a:r>
              <a:t>PROBLEM STATEMENT &amp; TASKS:</a:t>
            </a:r>
          </a:p>
          <a:p>
            <a:pPr>
              <a:defRPr sz="1600">
                <a:solidFill>
                  <a:srgbClr val="0F172A"/>
                </a:solidFill>
                <a:latin typeface="Arial"/>
              </a:defRPr>
            </a:pPr>
            <a:r>
              <a:t>Evaluate the definite integral \(∫[0 to 1] x² eˣ , dx\) using integration by parts. Show all steps and simplify the final answer.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57800"/>
            <a:ext cx="10698480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40AF"/>
                </a:solidFill>
                <a:latin typeface="Arial"/>
              </a:defRPr>
            </a:pPr>
            <a:r>
              <a:t>💡 EVALUATION &amp; ANSWER DIRECTIVES: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Total Marks: 25  •  Candidates must demonstrate rigorous mathematical proof / textual substantiation and clearly outline final conclusions.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Calculus and Differential Equations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Question 2  [25 Marks]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74320"/>
            <a:ext cx="2651760" cy="5029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📐 MATHEMATICS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698480" cy="3749039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  <a:latin typeface="Arial"/>
              </a:defRPr>
            </a:pPr>
            <a:r>
              <a:t>PROBLEM STATEMENT &amp; TASKS:</a:t>
            </a:r>
          </a:p>
          <a:p>
            <a:pPr>
              <a:defRPr sz="1600">
                <a:solidFill>
                  <a:srgbClr val="0F172A"/>
                </a:solidFill>
                <a:latin typeface="Arial"/>
              </a:defRPr>
            </a:pPr>
            <a:r>
              <a:t>Solve the first-order linear differential equation \((dy / dx) + 2y = 4e^{-x}\) with the initial condition \(y(0)=1\). Provide the explicit solution \(y(x)\).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57800"/>
            <a:ext cx="10698480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40AF"/>
                </a:solidFill>
                <a:latin typeface="Arial"/>
              </a:defRPr>
            </a:pPr>
            <a:r>
              <a:t>💡 EVALUATION &amp; ANSWER DIRECTIVES: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Total Marks: 25  •  Candidates must demonstrate rigorous mathematical proof / textual substantiation and clearly outline final conclusions.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Calculus and Differential Equations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Question 3  [25 Marks]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74320"/>
            <a:ext cx="2651760" cy="5029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📐 MATHEMATICS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698480" cy="3749039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  <a:latin typeface="Arial"/>
              </a:defRPr>
            </a:pPr>
            <a:r>
              <a:t>PROBLEM STATEMENT &amp; TASKS:</a:t>
            </a:r>
          </a:p>
          <a:p>
            <a:pPr>
              <a:defRPr sz="1600">
                <a:solidFill>
                  <a:srgbClr val="0F172A"/>
                </a:solidFill>
                <a:latin typeface="Arial"/>
              </a:defRPr>
            </a:pPr>
            <a:r>
              <a:t>Consider the scalar field \(u(x,y) = x² y - y³\).(a) Compute the gradient \(∇ u\) at the point \((1,-1)\).(b) Find the directional derivative of \(u\) at \((1,-1)\) in the direction of the vector \(v = (3,4)\).(c) Sketch the surface \(z = u(x,y)\) over the region \(-2 ≤ x ≤ 2\), \(-2 ≤ y ≤ 2\).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57800"/>
            <a:ext cx="10698480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40AF"/>
                </a:solidFill>
                <a:latin typeface="Arial"/>
              </a:defRPr>
            </a:pPr>
            <a:r>
              <a:t>💡 EVALUATION &amp; ANSWER DIRECTIVES: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t>Total Marks: 25  •  Candidates must demonstrate rigorous mathematical proof / textual substantiation and clearly outline final conclusions.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Calculus and Differential Equations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Examiner Marking Scheme &amp; Rubric Guidelines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274320"/>
            <a:ext cx="2651760" cy="50292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GRADING RUBRIC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9848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  <a:latin typeface="Arial"/>
              </a:defRPr>
            </a:pPr>
            <a:r>
              <a:t>STANDARDIZED EVALUATION CHECKLIST &amp; MARK DISTRIBUTION</a:t>
            </a:r>
          </a:p>
          <a:p>
            <a:pPr>
              <a:defRPr sz="1150" b="1">
                <a:solidFill>
                  <a:srgbClr val="1E40AF"/>
                </a:solidFill>
                <a:latin typeface="Arial"/>
              </a:defRPr>
            </a:pPr>
            <a:r>
              <a:t>• Conceptual Understanding &amp; Formulation (30%)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Correct identification of applicable theorems, formulas, historical events, or core principles.</a:t>
            </a:r>
          </a:p>
          <a:p>
            <a:pPr>
              <a:defRPr sz="1150" b="1">
                <a:solidFill>
                  <a:srgbClr val="1E40AF"/>
                </a:solidFill>
                <a:latin typeface="Arial"/>
              </a:defRPr>
            </a:pPr>
            <a:r>
              <a:t>• Methodological Execution &amp; Working Steps (40%)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Logical sequence of derivations, intermediate algebraic steps, balanced chemical reactions, or source analysis.</a:t>
            </a:r>
          </a:p>
          <a:p>
            <a:pPr>
              <a:defRPr sz="1150" b="1">
                <a:solidFill>
                  <a:srgbClr val="1E40AF"/>
                </a:solidFill>
                <a:latin typeface="Arial"/>
              </a:defRPr>
            </a:pPr>
            <a:r>
              <a:t>• Accuracy &amp; Final Solution (20%)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Precise numerical results, correct physical units, or coherent synthesis of concluding arguments.</a:t>
            </a:r>
          </a:p>
          <a:p>
            <a:pPr>
              <a:defRPr sz="1150" b="1">
                <a:solidFill>
                  <a:srgbClr val="1E40AF"/>
                </a:solidFill>
                <a:latin typeface="Arial"/>
              </a:defRPr>
            </a:pPr>
            <a:r>
              <a:t>• Diagrams, Notation &amp; Presentation (10%)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   Neatness, accurate diagram labeling, standard mathematical/scientific notation, and clarity.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ExamGen Autonomous Examination System  •  Calculus and Differential Equations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739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CBD5E1"/>
                </a:solidFill>
                <a:latin typeface="Arial"/>
              </a:defRPr>
            </a:pPr>
            <a: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