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1 Notes:</a:t>
            </a:r>
          </a:p>
          <a:p>
            <a:r>
              <a:t>- Allocated Marks: 25</a:t>
            </a:r>
          </a:p>
          <a:p>
            <a:r>
              <a:t>- Subject: History</a:t>
            </a:r>
          </a:p>
          <a:p>
            <a:r>
              <a:t>- Text: Analyze the causes and immediate consequences of the Great Indian Revolt of 1857, focusing on how it led to the end of British East India Company rule and the transition to direct Crown rule under Queen Victoria. Discuss the role of key leaders and the failure of the rebellion in terms of military and political outcomes.</a:t>
            </a:r>
          </a:p>
          <a:p>
            <a:r>
              <a:t>- Marking Guidance: Award full marks for complete and rigorous answers. Deduct marks for missing steps, wrong algebraic units, or lack of critical citations.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2 Notes:</a:t>
            </a:r>
          </a:p>
          <a:p>
            <a:r>
              <a:t>- Allocated Marks: 25</a:t>
            </a:r>
          </a:p>
          <a:p>
            <a:r>
              <a:t>- Subject: History</a:t>
            </a:r>
          </a:p>
          <a:p>
            <a:r>
              <a:t>- Text: Evaluate the significance of the Dandi Salt March of 1930 in the Indian independence movement. Consider its strategic objectives, methods employed, and its impact on both domestic mobilization and international attention toward the freedom struggle.</a:t>
            </a:r>
          </a:p>
          <a:p>
            <a:r>
              <a:t>- Marking Guidance: Award full marks for complete and rigorous answers. Deduct marks for missing steps, wrong algebraic units, or lack of critical citations.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457200"/>
            <a:ext cx="2926080" cy="438912"/>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 HISTORY &amp; HUMANITIES</a:t>
            </a:r>
          </a:p>
        </p:txBody>
      </p:sp>
      <p:sp>
        <p:nvSpPr>
          <p:cNvPr id="5" name="TextBox 4"/>
          <p:cNvSpPr txBox="1"/>
          <p:nvPr/>
        </p:nvSpPr>
        <p:spPr>
          <a:xfrm>
            <a:off x="731520" y="1051560"/>
            <a:ext cx="10698480" cy="1280160"/>
          </a:xfrm>
          <a:prstGeom prst="rect">
            <a:avLst/>
          </a:prstGeom>
          <a:noFill/>
        </p:spPr>
        <p:txBody>
          <a:bodyPr wrap="square">
            <a:spAutoFit/>
          </a:bodyPr>
          <a:lstStyle/>
          <a:p>
            <a:pPr>
              <a:defRPr sz="2800" b="1">
                <a:solidFill>
                  <a:srgbClr val="FFFFFF"/>
                </a:solidFill>
                <a:latin typeface="Arial"/>
              </a:defRPr>
            </a:pPr>
            <a:r>
              <a:t>MODERN INDIAN HISTORY &amp; INDEPENDENCE STRUGGLE</a:t>
            </a:r>
          </a:p>
          <a:p>
            <a:pPr>
              <a:defRPr sz="1300">
                <a:solidFill>
                  <a:srgbClr val="CBD5E1"/>
                </a:solidFill>
                <a:latin typeface="Arial"/>
              </a:defRPr>
            </a:pPr>
            <a:r>
              <a:t>Official University / Board Level Comprehensive Examination Paper</a:t>
            </a:r>
          </a:p>
        </p:txBody>
      </p:sp>
      <p:sp>
        <p:nvSpPr>
          <p:cNvPr id="6" name="Rounded Rectangle 5"/>
          <p:cNvSpPr/>
          <p:nvPr/>
        </p:nvSpPr>
        <p:spPr>
          <a:xfrm>
            <a:off x="731520" y="3246120"/>
            <a:ext cx="3328416" cy="1097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475569"/>
                </a:solidFill>
                <a:latin typeface="Arial"/>
              </a:defRPr>
            </a:pPr>
            <a:r>
              <a:t>🏆  Total Max Marks</a:t>
            </a:r>
          </a:p>
          <a:p>
            <a:pPr>
              <a:defRPr sz="1700" b="1">
                <a:solidFill>
                  <a:srgbClr val="0F172A"/>
                </a:solidFill>
                <a:latin typeface="Arial"/>
              </a:defRPr>
            </a:pPr>
            <a:r>
              <a:t>50 Marks</a:t>
            </a:r>
          </a:p>
        </p:txBody>
      </p:sp>
      <p:sp>
        <p:nvSpPr>
          <p:cNvPr id="7" name="Rounded Rectangle 6"/>
          <p:cNvSpPr/>
          <p:nvPr/>
        </p:nvSpPr>
        <p:spPr>
          <a:xfrm>
            <a:off x="4407408" y="3246120"/>
            <a:ext cx="3328416" cy="1097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475569"/>
                </a:solidFill>
                <a:latin typeface="Arial"/>
              </a:defRPr>
            </a:pPr>
            <a:r>
              <a:t>📝  Question Count</a:t>
            </a:r>
          </a:p>
          <a:p>
            <a:pPr>
              <a:defRPr sz="1700" b="1">
                <a:solidFill>
                  <a:srgbClr val="0F172A"/>
                </a:solidFill>
                <a:latin typeface="Arial"/>
              </a:defRPr>
            </a:pPr>
            <a:r>
              <a:t>2 Problems</a:t>
            </a:r>
          </a:p>
        </p:txBody>
      </p:sp>
      <p:sp>
        <p:nvSpPr>
          <p:cNvPr id="8" name="Rounded Rectangle 7"/>
          <p:cNvSpPr/>
          <p:nvPr/>
        </p:nvSpPr>
        <p:spPr>
          <a:xfrm>
            <a:off x="8083296" y="3246120"/>
            <a:ext cx="3328416" cy="10972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475569"/>
                </a:solidFill>
                <a:latin typeface="Arial"/>
              </a:defRPr>
            </a:pPr>
            <a:r>
              <a:t>⏱️  Duration / Time</a:t>
            </a:r>
          </a:p>
          <a:p>
            <a:pPr>
              <a:defRPr sz="1700" b="1">
                <a:solidFill>
                  <a:srgbClr val="0F172A"/>
                </a:solidFill>
                <a:latin typeface="Arial"/>
              </a:defRPr>
            </a:pPr>
            <a:r>
              <a:t>3 Hours (180 Mins)</a:t>
            </a:r>
          </a:p>
        </p:txBody>
      </p:sp>
      <p:sp>
        <p:nvSpPr>
          <p:cNvPr id="9" name="Rounded Rectangle 8"/>
          <p:cNvSpPr/>
          <p:nvPr/>
        </p:nvSpPr>
        <p:spPr>
          <a:xfrm>
            <a:off x="731520" y="4572000"/>
            <a:ext cx="10698480" cy="164592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40AF"/>
                </a:solidFill>
                <a:latin typeface="Arial"/>
              </a:defRPr>
            </a:pPr>
            <a:r>
              <a:t>📋 CANDIDATE GENERAL INSTRUCTIONS:</a:t>
            </a:r>
          </a:p>
          <a:p>
            <a:pPr>
              <a:defRPr sz="1050">
                <a:solidFill>
                  <a:srgbClr val="1E293B"/>
                </a:solidFill>
                <a:latin typeface="Arial"/>
              </a:defRPr>
            </a:pPr>
            <a:r>
              <a:t>1. All questions are compulsory unless specified otherwise. Marks are indicated against each question.</a:t>
            </a:r>
          </a:p>
          <a:p>
            <a:pPr>
              <a:defRPr sz="1050">
                <a:solidFill>
                  <a:srgbClr val="1E293B"/>
                </a:solidFill>
                <a:latin typeface="Arial"/>
              </a:defRPr>
            </a:pPr>
            <a:r>
              <a:t>2. For mathematical &amp; scientific problems, show complete step-by-step derivations, calculations, and state appropriate units.</a:t>
            </a:r>
          </a:p>
          <a:p>
            <a:pPr>
              <a:defRPr sz="1050">
                <a:solidFill>
                  <a:srgbClr val="1E293B"/>
                </a:solidFill>
                <a:latin typeface="Arial"/>
              </a:defRPr>
            </a:pPr>
            <a:r>
              <a:t>3. For humanities &amp; history questions, provide structured source analysis, contextual evidence, and critical reasoning.</a:t>
            </a:r>
          </a:p>
          <a:p>
            <a:pPr>
              <a:defRPr sz="1050">
                <a:solidFill>
                  <a:srgbClr val="1E293B"/>
                </a:solidFill>
                <a:latin typeface="Arial"/>
              </a:defRPr>
            </a:pPr>
            <a:r>
              <a:t>4. Neat, labeled diagrams and plots must be provided wherever asked.</a:t>
            </a:r>
          </a:p>
        </p:txBody>
      </p:sp>
      <p:sp>
        <p:nvSpPr>
          <p:cNvPr id="10" name="Rectangle 9"/>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Modern Indian History &amp; Independence Struggle</a:t>
            </a:r>
          </a:p>
        </p:txBody>
      </p:sp>
      <p:sp>
        <p:nvSpPr>
          <p:cNvPr id="12" name="TextBox 11"/>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1 of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Exam Blueprint &amp; Questions Overview</a:t>
            </a:r>
          </a:p>
        </p:txBody>
      </p:sp>
      <p:sp>
        <p:nvSpPr>
          <p:cNvPr id="5" name="Rounded Rectangle 4"/>
          <p:cNvSpPr/>
          <p:nvPr/>
        </p:nvSpPr>
        <p:spPr>
          <a:xfrm>
            <a:off x="8961120" y="274320"/>
            <a:ext cx="2651760" cy="502920"/>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HISTORY &amp; HUMANITIES</a:t>
            </a:r>
          </a:p>
        </p:txBody>
      </p:sp>
      <p:graphicFrame>
        <p:nvGraphicFramePr>
          <p:cNvPr id="6" name="Table 5"/>
          <p:cNvGraphicFramePr>
            <a:graphicFrameLocks noGrp="1"/>
          </p:cNvGraphicFramePr>
          <p:nvPr/>
        </p:nvGraphicFramePr>
        <p:xfrm>
          <a:off x="731520" y="1417320"/>
          <a:ext cx="10698480" cy="1316736"/>
        </p:xfrm>
        <a:graphic>
          <a:graphicData uri="http://schemas.openxmlformats.org/drawingml/2006/table">
            <a:tbl>
              <a:tblPr firstRow="1" bandRow="1">
                <a:tableStyleId>{5C22544A-7EE6-4342-B048-85BDC9FD1C3A}</a:tableStyleId>
              </a:tblPr>
              <a:tblGrid>
                <a:gridCol w="1371600"/>
                <a:gridCol w="6217920"/>
                <a:gridCol w="1645920"/>
                <a:gridCol w="1463040"/>
              </a:tblGrid>
              <a:tr h="438912">
                <a:tc>
                  <a:txBody>
                    <a:bodyPr/>
                    <a:lstStyle/>
                    <a:p>
                      <a:pPr algn="ctr">
                        <a:defRPr sz="1100" b="1">
                          <a:solidFill>
                            <a:srgbClr val="FFFFFF"/>
                          </a:solidFill>
                          <a:latin typeface="Arial"/>
                        </a:defRPr>
                      </a:pPr>
                      <a:r>
                        <a:t>Question #</a:t>
                      </a:r>
                    </a:p>
                  </a:txBody>
                  <a:tcPr>
                    <a:solidFill>
                      <a:srgbClr val="0F172A"/>
                    </a:solidFill>
                  </a:tcPr>
                </a:tc>
                <a:tc>
                  <a:txBody>
                    <a:bodyPr/>
                    <a:lstStyle/>
                    <a:p>
                      <a:pPr algn="l">
                        <a:defRPr sz="1100" b="1">
                          <a:solidFill>
                            <a:srgbClr val="FFFFFF"/>
                          </a:solidFill>
                          <a:latin typeface="Arial"/>
                        </a:defRPr>
                      </a:pPr>
                      <a:r>
                        <a:t>Topic / Problem Focus</a:t>
                      </a:r>
                    </a:p>
                  </a:txBody>
                  <a:tcPr>
                    <a:solidFill>
                      <a:srgbClr val="0F172A"/>
                    </a:solidFill>
                  </a:tcPr>
                </a:tc>
                <a:tc>
                  <a:txBody>
                    <a:bodyPr/>
                    <a:lstStyle/>
                    <a:p>
                      <a:pPr algn="ctr">
                        <a:defRPr sz="1100" b="1">
                          <a:solidFill>
                            <a:srgbClr val="FFFFFF"/>
                          </a:solidFill>
                          <a:latin typeface="Arial"/>
                        </a:defRPr>
                      </a:pPr>
                      <a:r>
                        <a:t>Allocated Marks</a:t>
                      </a:r>
                    </a:p>
                  </a:txBody>
                  <a:tcPr>
                    <a:solidFill>
                      <a:srgbClr val="0F172A"/>
                    </a:solidFill>
                  </a:tcPr>
                </a:tc>
                <a:tc>
                  <a:txBody>
                    <a:bodyPr/>
                    <a:lstStyle/>
                    <a:p>
                      <a:pPr algn="ctr">
                        <a:defRPr sz="1100" b="1">
                          <a:solidFill>
                            <a:srgbClr val="FFFFFF"/>
                          </a:solidFill>
                          <a:latin typeface="Arial"/>
                        </a:defRPr>
                      </a:pPr>
                      <a:r>
                        <a:t>Visual Diagram</a:t>
                      </a:r>
                    </a:p>
                  </a:txBody>
                  <a:tcPr>
                    <a:solidFill>
                      <a:srgbClr val="0F172A"/>
                    </a:solidFill>
                  </a:tcPr>
                </a:tc>
              </a:tr>
              <a:tr h="438912">
                <a:tc>
                  <a:txBody>
                    <a:bodyPr/>
                    <a:lstStyle/>
                    <a:p>
                      <a:pPr algn="ctr">
                        <a:defRPr sz="1000">
                          <a:solidFill>
                            <a:srgbClr val="0F172A"/>
                          </a:solidFill>
                          <a:latin typeface="Arial"/>
                        </a:defRPr>
                      </a:pPr>
                      <a:r>
                        <a:t>Question 1</a:t>
                      </a:r>
                    </a:p>
                  </a:txBody>
                  <a:tcPr>
                    <a:solidFill>
                      <a:srgbClr val="FFFFFF"/>
                    </a:solidFill>
                  </a:tcPr>
                </a:tc>
                <a:tc>
                  <a:txBody>
                    <a:bodyPr/>
                    <a:lstStyle/>
                    <a:p>
                      <a:pPr>
                        <a:defRPr sz="1000">
                          <a:solidFill>
                            <a:srgbClr val="0F172A"/>
                          </a:solidFill>
                          <a:latin typeface="Arial"/>
                        </a:defRPr>
                      </a:pPr>
                      <a:r>
                        <a:t>Analyze the causes and immediate consequences of the Great Indian Revolt of 1857, focusing...</a:t>
                      </a:r>
                    </a:p>
                  </a:txBody>
                  <a:tcPr>
                    <a:solidFill>
                      <a:srgbClr val="FFFFFF"/>
                    </a:solidFill>
                  </a:tcPr>
                </a:tc>
                <a:tc>
                  <a:txBody>
                    <a:bodyPr/>
                    <a:lstStyle/>
                    <a:p>
                      <a:pPr algn="ctr">
                        <a:defRPr sz="1000" b="1">
                          <a:solidFill>
                            <a:srgbClr val="1E40AF"/>
                          </a:solidFill>
                          <a:latin typeface="Arial"/>
                        </a:defRPr>
                      </a:pPr>
                      <a:r>
                        <a:t>25 Marks</a:t>
                      </a:r>
                    </a:p>
                  </a:txBody>
                  <a:tcPr>
                    <a:solidFill>
                      <a:srgbClr val="FFFFFF"/>
                    </a:solidFill>
                  </a:tcPr>
                </a:tc>
                <a:tc>
                  <a:txBody>
                    <a:bodyPr/>
                    <a:lstStyle/>
                    <a:p>
                      <a:pPr algn="ctr">
                        <a:defRPr sz="1000">
                          <a:solidFill>
                            <a:srgbClr val="0F172A"/>
                          </a:solidFill>
                          <a:latin typeface="Arial"/>
                        </a:defRPr>
                      </a:pPr>
                      <a:r>
                        <a:t>Standard</a:t>
                      </a:r>
                    </a:p>
                  </a:txBody>
                  <a:tcPr>
                    <a:solidFill>
                      <a:srgbClr val="FFFFFF"/>
                    </a:solidFill>
                  </a:tcPr>
                </a:tc>
              </a:tr>
              <a:tr h="438912">
                <a:tc>
                  <a:txBody>
                    <a:bodyPr/>
                    <a:lstStyle/>
                    <a:p>
                      <a:pPr algn="ctr">
                        <a:defRPr sz="1000">
                          <a:solidFill>
                            <a:srgbClr val="0F172A"/>
                          </a:solidFill>
                          <a:latin typeface="Arial"/>
                        </a:defRPr>
                      </a:pPr>
                      <a:r>
                        <a:t>Question 2</a:t>
                      </a:r>
                    </a:p>
                  </a:txBody>
                  <a:tcPr>
                    <a:solidFill>
                      <a:srgbClr val="F8FAFC"/>
                    </a:solidFill>
                  </a:tcPr>
                </a:tc>
                <a:tc>
                  <a:txBody>
                    <a:bodyPr/>
                    <a:lstStyle/>
                    <a:p>
                      <a:pPr>
                        <a:defRPr sz="1000">
                          <a:solidFill>
                            <a:srgbClr val="0F172A"/>
                          </a:solidFill>
                          <a:latin typeface="Arial"/>
                        </a:defRPr>
                      </a:pPr>
                      <a:r>
                        <a:t>Evaluate the significance of the Dandi Salt March of 1930 in the Indian independence movem...</a:t>
                      </a:r>
                    </a:p>
                  </a:txBody>
                  <a:tcPr>
                    <a:solidFill>
                      <a:srgbClr val="F8FAFC"/>
                    </a:solidFill>
                  </a:tcPr>
                </a:tc>
                <a:tc>
                  <a:txBody>
                    <a:bodyPr/>
                    <a:lstStyle/>
                    <a:p>
                      <a:pPr algn="ctr">
                        <a:defRPr sz="1000" b="1">
                          <a:solidFill>
                            <a:srgbClr val="1E40AF"/>
                          </a:solidFill>
                          <a:latin typeface="Arial"/>
                        </a:defRPr>
                      </a:pPr>
                      <a:r>
                        <a:t>25 Marks</a:t>
                      </a:r>
                    </a:p>
                  </a:txBody>
                  <a:tcPr>
                    <a:solidFill>
                      <a:srgbClr val="F8FAFC"/>
                    </a:solidFill>
                  </a:tcPr>
                </a:tc>
                <a:tc>
                  <a:txBody>
                    <a:bodyPr/>
                    <a:lstStyle/>
                    <a:p>
                      <a:pPr algn="ctr">
                        <a:defRPr sz="1000">
                          <a:solidFill>
                            <a:srgbClr val="0F172A"/>
                          </a:solidFill>
                          <a:latin typeface="Arial"/>
                        </a:defRPr>
                      </a:pPr>
                      <a:r>
                        <a:t>Standard</a:t>
                      </a:r>
                    </a:p>
                  </a:txBody>
                  <a:tcPr>
                    <a:solidFill>
                      <a:srgbClr val="F8FAFC"/>
                    </a:solidFill>
                  </a:tcPr>
                </a:tc>
              </a:tr>
            </a:tbl>
          </a:graphicData>
        </a:graphic>
      </p:graphicFrame>
      <p:sp>
        <p:nvSpPr>
          <p:cNvPr id="7" name="Rectangle 6"/>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Modern Indian History &amp; Independence Struggle</a:t>
            </a:r>
          </a:p>
        </p:txBody>
      </p:sp>
      <p:sp>
        <p:nvSpPr>
          <p:cNvPr id="9" name="TextBox 8"/>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2 of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Question 1  [25 Marks]</a:t>
            </a:r>
          </a:p>
        </p:txBody>
      </p:sp>
      <p:sp>
        <p:nvSpPr>
          <p:cNvPr id="5" name="Rounded Rectangle 4"/>
          <p:cNvSpPr/>
          <p:nvPr/>
        </p:nvSpPr>
        <p:spPr>
          <a:xfrm>
            <a:off x="8961120" y="274320"/>
            <a:ext cx="2651760" cy="502920"/>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HISTORY &amp; HUMANITIES</a:t>
            </a:r>
          </a:p>
        </p:txBody>
      </p:sp>
      <p:sp>
        <p:nvSpPr>
          <p:cNvPr id="6" name="Rounded Rectangle 5"/>
          <p:cNvSpPr/>
          <p:nvPr/>
        </p:nvSpPr>
        <p:spPr>
          <a:xfrm>
            <a:off x="731520" y="1325880"/>
            <a:ext cx="10698480" cy="3749039"/>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40AF"/>
                </a:solidFill>
                <a:latin typeface="Arial"/>
              </a:defRPr>
            </a:pPr>
            <a:r>
              <a:t>PROBLEM STATEMENT &amp; TASKS:</a:t>
            </a:r>
          </a:p>
          <a:p>
            <a:pPr>
              <a:defRPr sz="1500">
                <a:solidFill>
                  <a:srgbClr val="0F172A"/>
                </a:solidFill>
                <a:latin typeface="Arial"/>
              </a:defRPr>
            </a:pPr>
            <a:r>
              <a:t>Analyze the causes and immediate consequences of the Great Indian Revolt of 1857, focusing on how it led to the end of British East India Company rule and the transition to direct Crown rule under Queen Victoria. Discuss the role of key leaders and the failure of the rebellion in terms of military and political outcomes.</a:t>
            </a:r>
          </a:p>
        </p:txBody>
      </p:sp>
      <p:sp>
        <p:nvSpPr>
          <p:cNvPr id="7" name="Rounded Rectangle 6"/>
          <p:cNvSpPr/>
          <p:nvPr/>
        </p:nvSpPr>
        <p:spPr>
          <a:xfrm>
            <a:off x="731520" y="5257800"/>
            <a:ext cx="10698480" cy="86868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40AF"/>
                </a:solidFill>
                <a:latin typeface="Arial"/>
              </a:defRPr>
            </a:pPr>
            <a:r>
              <a:t>💡 EVALUATION &amp; ANSWER DIRECTIVES:</a:t>
            </a:r>
          </a:p>
          <a:p>
            <a:pPr>
              <a:defRPr sz="1000">
                <a:solidFill>
                  <a:srgbClr val="1E293B"/>
                </a:solidFill>
                <a:latin typeface="Arial"/>
              </a:defRPr>
            </a:pPr>
            <a:r>
              <a:t>Total Marks: 25  •  Candidates must demonstrate rigorous mathematical proof / textual substantiation and clearly outline final conclusions.</a:t>
            </a:r>
          </a:p>
        </p:txBody>
      </p:sp>
      <p:sp>
        <p:nvSpPr>
          <p:cNvPr id="8" name="Rectangle 7"/>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Modern Indian History &amp; Independence Struggle</a:t>
            </a:r>
          </a:p>
        </p:txBody>
      </p:sp>
      <p:sp>
        <p:nvSpPr>
          <p:cNvPr id="10" name="TextBox 9"/>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3 of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Question 2  [25 Marks]</a:t>
            </a:r>
          </a:p>
        </p:txBody>
      </p:sp>
      <p:sp>
        <p:nvSpPr>
          <p:cNvPr id="5" name="Rounded Rectangle 4"/>
          <p:cNvSpPr/>
          <p:nvPr/>
        </p:nvSpPr>
        <p:spPr>
          <a:xfrm>
            <a:off x="8961120" y="274320"/>
            <a:ext cx="2651760" cy="502920"/>
          </a:xfrm>
          <a:prstGeom prst="round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 HISTORY &amp; HUMANITIES</a:t>
            </a:r>
          </a:p>
        </p:txBody>
      </p:sp>
      <p:sp>
        <p:nvSpPr>
          <p:cNvPr id="6" name="Rounded Rectangle 5"/>
          <p:cNvSpPr/>
          <p:nvPr/>
        </p:nvSpPr>
        <p:spPr>
          <a:xfrm>
            <a:off x="731520" y="1325880"/>
            <a:ext cx="10698480" cy="3749039"/>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E40AF"/>
                </a:solidFill>
                <a:latin typeface="Arial"/>
              </a:defRPr>
            </a:pPr>
            <a:r>
              <a:t>PROBLEM STATEMENT &amp; TASKS:</a:t>
            </a:r>
          </a:p>
          <a:p>
            <a:pPr>
              <a:defRPr sz="1500">
                <a:solidFill>
                  <a:srgbClr val="0F172A"/>
                </a:solidFill>
                <a:latin typeface="Arial"/>
              </a:defRPr>
            </a:pPr>
            <a:r>
              <a:t>Evaluate the significance of the Dandi Salt March of 1930 in the Indian independence movement. Consider its strategic objectives, methods employed, and its impact on both domestic mobilization and international attention toward the freedom struggle.</a:t>
            </a:r>
          </a:p>
        </p:txBody>
      </p:sp>
      <p:sp>
        <p:nvSpPr>
          <p:cNvPr id="7" name="Rounded Rectangle 6"/>
          <p:cNvSpPr/>
          <p:nvPr/>
        </p:nvSpPr>
        <p:spPr>
          <a:xfrm>
            <a:off x="731520" y="5257800"/>
            <a:ext cx="10698480" cy="868680"/>
          </a:xfrm>
          <a:prstGeom prst="roundRect">
            <a:avLst/>
          </a:prstGeom>
          <a:solidFill>
            <a:srgbClr val="EFF6FF"/>
          </a:solidFill>
          <a:ln w="1270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40AF"/>
                </a:solidFill>
                <a:latin typeface="Arial"/>
              </a:defRPr>
            </a:pPr>
            <a:r>
              <a:t>💡 EVALUATION &amp; ANSWER DIRECTIVES:</a:t>
            </a:r>
          </a:p>
          <a:p>
            <a:pPr>
              <a:defRPr sz="1000">
                <a:solidFill>
                  <a:srgbClr val="1E293B"/>
                </a:solidFill>
                <a:latin typeface="Arial"/>
              </a:defRPr>
            </a:pPr>
            <a:r>
              <a:t>Total Marks: 25  •  Candidates must demonstrate rigorous mathematical proof / textual substantiation and clearly outline final conclusions.</a:t>
            </a:r>
          </a:p>
        </p:txBody>
      </p:sp>
      <p:sp>
        <p:nvSpPr>
          <p:cNvPr id="8" name="Rectangle 7"/>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Modern Indian History &amp; Independence Struggle</a:t>
            </a:r>
          </a:p>
        </p:txBody>
      </p:sp>
      <p:sp>
        <p:nvSpPr>
          <p:cNvPr id="10" name="TextBox 9"/>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4 of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8046720" cy="731520"/>
          </a:xfrm>
          <a:prstGeom prst="rect">
            <a:avLst/>
          </a:prstGeom>
          <a:noFill/>
        </p:spPr>
        <p:txBody>
          <a:bodyPr wrap="square">
            <a:spAutoFit/>
          </a:bodyPr>
          <a:lstStyle/>
          <a:p>
            <a:pPr>
              <a:defRPr sz="2200" b="1">
                <a:solidFill>
                  <a:srgbClr val="FFFFFF"/>
                </a:solidFill>
                <a:latin typeface="Arial"/>
              </a:defRPr>
            </a:pPr>
            <a:r>
              <a:t>Examiner Marking Scheme &amp; Rubric Guidelines</a:t>
            </a:r>
          </a:p>
        </p:txBody>
      </p:sp>
      <p:sp>
        <p:nvSpPr>
          <p:cNvPr id="5" name="Rounded Rectangle 4"/>
          <p:cNvSpPr/>
          <p:nvPr/>
        </p:nvSpPr>
        <p:spPr>
          <a:xfrm>
            <a:off x="8961120" y="274320"/>
            <a:ext cx="2651760" cy="502920"/>
          </a:xfrm>
          <a:prstGeom prst="round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rial"/>
              </a:defRPr>
            </a:pPr>
            <a:r>
              <a:t>GRADING RUBRIC</a:t>
            </a:r>
          </a:p>
        </p:txBody>
      </p:sp>
      <p:sp>
        <p:nvSpPr>
          <p:cNvPr id="6" name="Rounded Rectangle 5"/>
          <p:cNvSpPr/>
          <p:nvPr/>
        </p:nvSpPr>
        <p:spPr>
          <a:xfrm>
            <a:off x="731520" y="1371600"/>
            <a:ext cx="10698480" cy="466344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F172A"/>
                </a:solidFill>
                <a:latin typeface="Arial"/>
              </a:defRPr>
            </a:pPr>
            <a:r>
              <a:t>STANDARDIZED EVALUATION CHECKLIST &amp; MARK DISTRIBUTION</a:t>
            </a:r>
          </a:p>
          <a:p>
            <a:pPr>
              <a:defRPr sz="1150" b="1">
                <a:solidFill>
                  <a:srgbClr val="1E40AF"/>
                </a:solidFill>
                <a:latin typeface="Arial"/>
              </a:defRPr>
            </a:pPr>
            <a:r>
              <a:t>• Conceptual Understanding &amp; Formulation (30%)</a:t>
            </a:r>
          </a:p>
          <a:p>
            <a:pPr>
              <a:defRPr sz="1050">
                <a:solidFill>
                  <a:srgbClr val="1E293B"/>
                </a:solidFill>
                <a:latin typeface="Arial"/>
              </a:defRPr>
            </a:pPr>
            <a:r>
              <a:t>   Correct identification of applicable theorems, formulas, historical events, or core principles.</a:t>
            </a:r>
          </a:p>
          <a:p>
            <a:pPr>
              <a:defRPr sz="1150" b="1">
                <a:solidFill>
                  <a:srgbClr val="1E40AF"/>
                </a:solidFill>
                <a:latin typeface="Arial"/>
              </a:defRPr>
            </a:pPr>
            <a:r>
              <a:t>• Methodological Execution &amp; Working Steps (40%)</a:t>
            </a:r>
          </a:p>
          <a:p>
            <a:pPr>
              <a:defRPr sz="1050">
                <a:solidFill>
                  <a:srgbClr val="1E293B"/>
                </a:solidFill>
                <a:latin typeface="Arial"/>
              </a:defRPr>
            </a:pPr>
            <a:r>
              <a:t>   Logical sequence of derivations, intermediate algebraic steps, balanced chemical reactions, or source analysis.</a:t>
            </a:r>
          </a:p>
          <a:p>
            <a:pPr>
              <a:defRPr sz="1150" b="1">
                <a:solidFill>
                  <a:srgbClr val="1E40AF"/>
                </a:solidFill>
                <a:latin typeface="Arial"/>
              </a:defRPr>
            </a:pPr>
            <a:r>
              <a:t>• Accuracy &amp; Final Solution (20%)</a:t>
            </a:r>
          </a:p>
          <a:p>
            <a:pPr>
              <a:defRPr sz="1050">
                <a:solidFill>
                  <a:srgbClr val="1E293B"/>
                </a:solidFill>
                <a:latin typeface="Arial"/>
              </a:defRPr>
            </a:pPr>
            <a:r>
              <a:t>   Precise numerical results, correct physical units, or coherent synthesis of concluding arguments.</a:t>
            </a:r>
          </a:p>
          <a:p>
            <a:pPr>
              <a:defRPr sz="1150" b="1">
                <a:solidFill>
                  <a:srgbClr val="1E40AF"/>
                </a:solidFill>
                <a:latin typeface="Arial"/>
              </a:defRPr>
            </a:pPr>
            <a:r>
              <a:t>• Diagrams, Notation &amp; Presentation (10%)</a:t>
            </a:r>
          </a:p>
          <a:p>
            <a:pPr>
              <a:defRPr sz="1050">
                <a:solidFill>
                  <a:srgbClr val="1E293B"/>
                </a:solidFill>
                <a:latin typeface="Arial"/>
              </a:defRPr>
            </a:pPr>
            <a:r>
              <a:t>   Neatness, accurate diagram labeling, standard mathematical/scientific notation, and clarity.</a:t>
            </a:r>
          </a:p>
        </p:txBody>
      </p:sp>
      <p:sp>
        <p:nvSpPr>
          <p:cNvPr id="7" name="Rectangle 6"/>
          <p:cNvSpPr/>
          <p:nvPr/>
        </p:nvSpPr>
        <p:spPr>
          <a:xfrm>
            <a:off x="0" y="644652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73952"/>
            <a:ext cx="6858000" cy="320040"/>
          </a:xfrm>
          <a:prstGeom prst="rect">
            <a:avLst/>
          </a:prstGeom>
          <a:noFill/>
        </p:spPr>
        <p:txBody>
          <a:bodyPr wrap="none">
            <a:spAutoFit/>
          </a:bodyPr>
          <a:lstStyle/>
          <a:p>
            <a:pPr>
              <a:defRPr sz="950">
                <a:solidFill>
                  <a:srgbClr val="CBD5E1"/>
                </a:solidFill>
                <a:latin typeface="Arial"/>
              </a:defRPr>
            </a:pPr>
            <a:r>
              <a:t>ExamGen Autonomous Examination System  •  Modern Indian History &amp; Independence Struggle</a:t>
            </a:r>
          </a:p>
        </p:txBody>
      </p:sp>
      <p:sp>
        <p:nvSpPr>
          <p:cNvPr id="9" name="TextBox 8"/>
          <p:cNvSpPr txBox="1"/>
          <p:nvPr/>
        </p:nvSpPr>
        <p:spPr>
          <a:xfrm>
            <a:off x="8686800" y="6473952"/>
            <a:ext cx="2926080" cy="320040"/>
          </a:xfrm>
          <a:prstGeom prst="rect">
            <a:avLst/>
          </a:prstGeom>
          <a:noFill/>
        </p:spPr>
        <p:txBody>
          <a:bodyPr wrap="none">
            <a:spAutoFit/>
          </a:bodyPr>
          <a:lstStyle/>
          <a:p>
            <a:pPr algn="r">
              <a:defRPr sz="950">
                <a:solidFill>
                  <a:srgbClr val="CBD5E1"/>
                </a:solidFill>
                <a:latin typeface="Arial"/>
              </a:defRPr>
            </a:pPr>
            <a:r>
              <a:t>Slide 5 of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