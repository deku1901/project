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1 Notes:</a:t>
            </a:r>
          </a:p>
          <a:p>
            <a:r>
              <a:t>- Allocated Marks: 25</a:t>
            </a:r>
          </a:p>
          <a:p>
            <a:r>
              <a:t>- Subject: History</a:t>
            </a:r>
          </a:p>
          <a:p>
            <a:r>
              <a:t>- Text: Analyse the causes and consequences of the end of World War II in 1945, focusing on the surrender of Axis powers and the establishment of the United Nations. Include evaluation of the UN Charter's principles and its impact on the post-war international order. Use primary source extracts (e.g., the Preamble of the UN Charter) to support your answer.</a:t>
            </a:r>
          </a:p>
          <a:p>
            <a:r>
              <a:t>- Marking Guidance: Award full marks for complete and rigorous answers. Deduct marks for missing steps, wrong algebraic units, or lack of critical citations.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2 Notes:</a:t>
            </a:r>
          </a:p>
          <a:p>
            <a:r>
              <a:t>- Allocated Marks: 25</a:t>
            </a:r>
          </a:p>
          <a:p>
            <a:r>
              <a:t>- Subject: History</a:t>
            </a:r>
          </a:p>
          <a:p>
            <a:r>
              <a:t>- Text: Examine the Indian Independence Act of 1947. Discuss the political, social, and economic factors leading to the partition of British India, and assess the immediate and long-term consequences for India and Pakistan. Incorporate analysis of contemporary perspectives (e.g., speeches by Jawaharlal Nehru and Muhammad Ali Jinnah) and evaluate the act's significance in the broader context of decolonization.</a:t>
            </a:r>
          </a:p>
          <a:p>
            <a:r>
              <a:t>- Marking Guidance: Award full marks for complete and rigorous answers. Deduct marks for missing steps, wrong algebraic units, or lack of critical citations.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926080"/>
            <a:ext cx="12191695" cy="73152"/>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457200"/>
            <a:ext cx="2926080" cy="438912"/>
          </a:xfrm>
          <a:prstGeom prst="round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 HISTORY &amp; HUMANITIES</a:t>
            </a:r>
          </a:p>
        </p:txBody>
      </p:sp>
      <p:sp>
        <p:nvSpPr>
          <p:cNvPr id="5" name="TextBox 4"/>
          <p:cNvSpPr txBox="1"/>
          <p:nvPr/>
        </p:nvSpPr>
        <p:spPr>
          <a:xfrm>
            <a:off x="731520" y="1051560"/>
            <a:ext cx="10698480" cy="1280160"/>
          </a:xfrm>
          <a:prstGeom prst="rect">
            <a:avLst/>
          </a:prstGeom>
          <a:noFill/>
        </p:spPr>
        <p:txBody>
          <a:bodyPr wrap="square">
            <a:spAutoFit/>
          </a:bodyPr>
          <a:lstStyle/>
          <a:p>
            <a:pPr>
              <a:defRPr sz="2800" b="1">
                <a:solidFill>
                  <a:srgbClr val="FFFFFF"/>
                </a:solidFill>
                <a:latin typeface="Arial"/>
              </a:defRPr>
            </a:pPr>
            <a:r>
              <a:t>WORLD WAR II &amp; DECOLONIZATION</a:t>
            </a:r>
          </a:p>
          <a:p>
            <a:pPr>
              <a:defRPr sz="1300">
                <a:solidFill>
                  <a:srgbClr val="CBD5E1"/>
                </a:solidFill>
                <a:latin typeface="Arial"/>
              </a:defRPr>
            </a:pPr>
            <a:r>
              <a:t>Official University / Board Level Comprehensive Examination Paper</a:t>
            </a:r>
          </a:p>
        </p:txBody>
      </p:sp>
      <p:sp>
        <p:nvSpPr>
          <p:cNvPr id="6" name="Rounded Rectangle 5"/>
          <p:cNvSpPr/>
          <p:nvPr/>
        </p:nvSpPr>
        <p:spPr>
          <a:xfrm>
            <a:off x="731520" y="3246120"/>
            <a:ext cx="3328416" cy="109728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475569"/>
                </a:solidFill>
                <a:latin typeface="Arial"/>
              </a:defRPr>
            </a:pPr>
            <a:r>
              <a:t>🏆  Total Max Marks</a:t>
            </a:r>
          </a:p>
          <a:p>
            <a:pPr>
              <a:defRPr sz="1700" b="1">
                <a:solidFill>
                  <a:srgbClr val="0F172A"/>
                </a:solidFill>
                <a:latin typeface="Arial"/>
              </a:defRPr>
            </a:pPr>
            <a:r>
              <a:t>50 Marks</a:t>
            </a:r>
          </a:p>
        </p:txBody>
      </p:sp>
      <p:sp>
        <p:nvSpPr>
          <p:cNvPr id="7" name="Rounded Rectangle 6"/>
          <p:cNvSpPr/>
          <p:nvPr/>
        </p:nvSpPr>
        <p:spPr>
          <a:xfrm>
            <a:off x="4407408" y="3246120"/>
            <a:ext cx="3328416" cy="109728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475569"/>
                </a:solidFill>
                <a:latin typeface="Arial"/>
              </a:defRPr>
            </a:pPr>
            <a:r>
              <a:t>📝  Question Count</a:t>
            </a:r>
          </a:p>
          <a:p>
            <a:pPr>
              <a:defRPr sz="1700" b="1">
                <a:solidFill>
                  <a:srgbClr val="0F172A"/>
                </a:solidFill>
                <a:latin typeface="Arial"/>
              </a:defRPr>
            </a:pPr>
            <a:r>
              <a:t>2 Problems</a:t>
            </a:r>
          </a:p>
        </p:txBody>
      </p:sp>
      <p:sp>
        <p:nvSpPr>
          <p:cNvPr id="8" name="Rounded Rectangle 7"/>
          <p:cNvSpPr/>
          <p:nvPr/>
        </p:nvSpPr>
        <p:spPr>
          <a:xfrm>
            <a:off x="8083296" y="3246120"/>
            <a:ext cx="3328416" cy="109728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475569"/>
                </a:solidFill>
                <a:latin typeface="Arial"/>
              </a:defRPr>
            </a:pPr>
            <a:r>
              <a:t>⏱️  Duration / Time</a:t>
            </a:r>
          </a:p>
          <a:p>
            <a:pPr>
              <a:defRPr sz="1700" b="1">
                <a:solidFill>
                  <a:srgbClr val="0F172A"/>
                </a:solidFill>
                <a:latin typeface="Arial"/>
              </a:defRPr>
            </a:pPr>
            <a:r>
              <a:t>3 Hours (180 Mins)</a:t>
            </a:r>
          </a:p>
        </p:txBody>
      </p:sp>
      <p:sp>
        <p:nvSpPr>
          <p:cNvPr id="9" name="Rounded Rectangle 8"/>
          <p:cNvSpPr/>
          <p:nvPr/>
        </p:nvSpPr>
        <p:spPr>
          <a:xfrm>
            <a:off x="731520" y="4572000"/>
            <a:ext cx="10698480" cy="1645920"/>
          </a:xfrm>
          <a:prstGeom prst="roundRect">
            <a:avLst/>
          </a:prstGeom>
          <a:solidFill>
            <a:srgbClr val="EFF6FF"/>
          </a:solidFill>
          <a:ln w="1270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E40AF"/>
                </a:solidFill>
                <a:latin typeface="Arial"/>
              </a:defRPr>
            </a:pPr>
            <a:r>
              <a:t>📋 CANDIDATE GENERAL INSTRUCTIONS:</a:t>
            </a:r>
          </a:p>
          <a:p>
            <a:pPr>
              <a:defRPr sz="1050">
                <a:solidFill>
                  <a:srgbClr val="1E293B"/>
                </a:solidFill>
                <a:latin typeface="Arial"/>
              </a:defRPr>
            </a:pPr>
            <a:r>
              <a:t>1. All questions are compulsory unless specified otherwise. Marks are indicated against each question.</a:t>
            </a:r>
          </a:p>
          <a:p>
            <a:pPr>
              <a:defRPr sz="1050">
                <a:solidFill>
                  <a:srgbClr val="1E293B"/>
                </a:solidFill>
                <a:latin typeface="Arial"/>
              </a:defRPr>
            </a:pPr>
            <a:r>
              <a:t>2. For mathematical &amp; scientific problems, show complete step-by-step derivations, calculations, and state appropriate units.</a:t>
            </a:r>
          </a:p>
          <a:p>
            <a:pPr>
              <a:defRPr sz="1050">
                <a:solidFill>
                  <a:srgbClr val="1E293B"/>
                </a:solidFill>
                <a:latin typeface="Arial"/>
              </a:defRPr>
            </a:pPr>
            <a:r>
              <a:t>3. For humanities &amp; history questions, provide structured source analysis, contextual evidence, and critical reasoning.</a:t>
            </a:r>
          </a:p>
          <a:p>
            <a:pPr>
              <a:defRPr sz="1050">
                <a:solidFill>
                  <a:srgbClr val="1E293B"/>
                </a:solidFill>
                <a:latin typeface="Arial"/>
              </a:defRPr>
            </a:pPr>
            <a:r>
              <a:t>4. Neat, labeled diagrams and plots must be provided wherever asked.</a:t>
            </a:r>
          </a:p>
        </p:txBody>
      </p:sp>
      <p:sp>
        <p:nvSpPr>
          <p:cNvPr id="10" name="Rectangle 9"/>
          <p:cNvSpPr/>
          <p:nvPr/>
        </p:nvSpPr>
        <p:spPr>
          <a:xfrm>
            <a:off x="0" y="644652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473952"/>
            <a:ext cx="6858000" cy="320040"/>
          </a:xfrm>
          <a:prstGeom prst="rect">
            <a:avLst/>
          </a:prstGeom>
          <a:noFill/>
        </p:spPr>
        <p:txBody>
          <a:bodyPr wrap="none">
            <a:spAutoFit/>
          </a:bodyPr>
          <a:lstStyle/>
          <a:p>
            <a:pPr>
              <a:defRPr sz="950">
                <a:solidFill>
                  <a:srgbClr val="CBD5E1"/>
                </a:solidFill>
                <a:latin typeface="Arial"/>
              </a:defRPr>
            </a:pPr>
            <a:r>
              <a:t>ExamGen Autonomous Examination System  •  World War II &amp; Decolonization</a:t>
            </a:r>
          </a:p>
        </p:txBody>
      </p:sp>
      <p:sp>
        <p:nvSpPr>
          <p:cNvPr id="12" name="TextBox 11"/>
          <p:cNvSpPr txBox="1"/>
          <p:nvPr/>
        </p:nvSpPr>
        <p:spPr>
          <a:xfrm>
            <a:off x="8686800" y="6473952"/>
            <a:ext cx="2926080" cy="320040"/>
          </a:xfrm>
          <a:prstGeom prst="rect">
            <a:avLst/>
          </a:prstGeom>
          <a:noFill/>
        </p:spPr>
        <p:txBody>
          <a:bodyPr wrap="none">
            <a:spAutoFit/>
          </a:bodyPr>
          <a:lstStyle/>
          <a:p>
            <a:pPr algn="r">
              <a:defRPr sz="950">
                <a:solidFill>
                  <a:srgbClr val="CBD5E1"/>
                </a:solidFill>
                <a:latin typeface="Arial"/>
              </a:defRPr>
            </a:pPr>
            <a:r>
              <a:t>Slide 1 of 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6576"/>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8046720" cy="731520"/>
          </a:xfrm>
          <a:prstGeom prst="rect">
            <a:avLst/>
          </a:prstGeom>
          <a:noFill/>
        </p:spPr>
        <p:txBody>
          <a:bodyPr wrap="square">
            <a:spAutoFit/>
          </a:bodyPr>
          <a:lstStyle/>
          <a:p>
            <a:pPr>
              <a:defRPr sz="2200" b="1">
                <a:solidFill>
                  <a:srgbClr val="FFFFFF"/>
                </a:solidFill>
                <a:latin typeface="Arial"/>
              </a:defRPr>
            </a:pPr>
            <a:r>
              <a:t>Exam Blueprint &amp; Questions Overview</a:t>
            </a:r>
          </a:p>
        </p:txBody>
      </p:sp>
      <p:sp>
        <p:nvSpPr>
          <p:cNvPr id="5" name="Rounded Rectangle 4"/>
          <p:cNvSpPr/>
          <p:nvPr/>
        </p:nvSpPr>
        <p:spPr>
          <a:xfrm>
            <a:off x="8961120" y="274320"/>
            <a:ext cx="2651760" cy="502920"/>
          </a:xfrm>
          <a:prstGeom prst="round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rial"/>
              </a:defRPr>
            </a:pPr>
            <a:r>
              <a:t>📜 HISTORY &amp; HUMANITIES</a:t>
            </a:r>
          </a:p>
        </p:txBody>
      </p:sp>
      <p:graphicFrame>
        <p:nvGraphicFramePr>
          <p:cNvPr id="6" name="Table 5"/>
          <p:cNvGraphicFramePr>
            <a:graphicFrameLocks noGrp="1"/>
          </p:cNvGraphicFramePr>
          <p:nvPr/>
        </p:nvGraphicFramePr>
        <p:xfrm>
          <a:off x="731520" y="1417320"/>
          <a:ext cx="10698480" cy="1316736"/>
        </p:xfrm>
        <a:graphic>
          <a:graphicData uri="http://schemas.openxmlformats.org/drawingml/2006/table">
            <a:tbl>
              <a:tblPr firstRow="1" bandRow="1">
                <a:tableStyleId>{5C22544A-7EE6-4342-B048-85BDC9FD1C3A}</a:tableStyleId>
              </a:tblPr>
              <a:tblGrid>
                <a:gridCol w="1371600"/>
                <a:gridCol w="6217920"/>
                <a:gridCol w="1645920"/>
                <a:gridCol w="1463040"/>
              </a:tblGrid>
              <a:tr h="438912">
                <a:tc>
                  <a:txBody>
                    <a:bodyPr/>
                    <a:lstStyle/>
                    <a:p>
                      <a:pPr algn="ctr">
                        <a:defRPr sz="1100" b="1">
                          <a:solidFill>
                            <a:srgbClr val="FFFFFF"/>
                          </a:solidFill>
                          <a:latin typeface="Arial"/>
                        </a:defRPr>
                      </a:pPr>
                      <a:r>
                        <a:t>Question #</a:t>
                      </a:r>
                    </a:p>
                  </a:txBody>
                  <a:tcPr>
                    <a:solidFill>
                      <a:srgbClr val="0F172A"/>
                    </a:solidFill>
                  </a:tcPr>
                </a:tc>
                <a:tc>
                  <a:txBody>
                    <a:bodyPr/>
                    <a:lstStyle/>
                    <a:p>
                      <a:pPr algn="l">
                        <a:defRPr sz="1100" b="1">
                          <a:solidFill>
                            <a:srgbClr val="FFFFFF"/>
                          </a:solidFill>
                          <a:latin typeface="Arial"/>
                        </a:defRPr>
                      </a:pPr>
                      <a:r>
                        <a:t>Topic / Problem Focus</a:t>
                      </a:r>
                    </a:p>
                  </a:txBody>
                  <a:tcPr>
                    <a:solidFill>
                      <a:srgbClr val="0F172A"/>
                    </a:solidFill>
                  </a:tcPr>
                </a:tc>
                <a:tc>
                  <a:txBody>
                    <a:bodyPr/>
                    <a:lstStyle/>
                    <a:p>
                      <a:pPr algn="ctr">
                        <a:defRPr sz="1100" b="1">
                          <a:solidFill>
                            <a:srgbClr val="FFFFFF"/>
                          </a:solidFill>
                          <a:latin typeface="Arial"/>
                        </a:defRPr>
                      </a:pPr>
                      <a:r>
                        <a:t>Allocated Marks</a:t>
                      </a:r>
                    </a:p>
                  </a:txBody>
                  <a:tcPr>
                    <a:solidFill>
                      <a:srgbClr val="0F172A"/>
                    </a:solidFill>
                  </a:tcPr>
                </a:tc>
                <a:tc>
                  <a:txBody>
                    <a:bodyPr/>
                    <a:lstStyle/>
                    <a:p>
                      <a:pPr algn="ctr">
                        <a:defRPr sz="1100" b="1">
                          <a:solidFill>
                            <a:srgbClr val="FFFFFF"/>
                          </a:solidFill>
                          <a:latin typeface="Arial"/>
                        </a:defRPr>
                      </a:pPr>
                      <a:r>
                        <a:t>Visual Diagram</a:t>
                      </a:r>
                    </a:p>
                  </a:txBody>
                  <a:tcPr>
                    <a:solidFill>
                      <a:srgbClr val="0F172A"/>
                    </a:solidFill>
                  </a:tcPr>
                </a:tc>
              </a:tr>
              <a:tr h="438912">
                <a:tc>
                  <a:txBody>
                    <a:bodyPr/>
                    <a:lstStyle/>
                    <a:p>
                      <a:pPr algn="ctr">
                        <a:defRPr sz="1000">
                          <a:solidFill>
                            <a:srgbClr val="0F172A"/>
                          </a:solidFill>
                          <a:latin typeface="Arial"/>
                        </a:defRPr>
                      </a:pPr>
                      <a:r>
                        <a:t>Question 1</a:t>
                      </a:r>
                    </a:p>
                  </a:txBody>
                  <a:tcPr>
                    <a:solidFill>
                      <a:srgbClr val="FFFFFF"/>
                    </a:solidFill>
                  </a:tcPr>
                </a:tc>
                <a:tc>
                  <a:txBody>
                    <a:bodyPr/>
                    <a:lstStyle/>
                    <a:p>
                      <a:pPr>
                        <a:defRPr sz="1000">
                          <a:solidFill>
                            <a:srgbClr val="0F172A"/>
                          </a:solidFill>
                          <a:latin typeface="Arial"/>
                        </a:defRPr>
                      </a:pPr>
                      <a:r>
                        <a:t>Analyse the causes and consequences of the end of World War II in 1945, focusing on the su...</a:t>
                      </a:r>
                    </a:p>
                  </a:txBody>
                  <a:tcPr>
                    <a:solidFill>
                      <a:srgbClr val="FFFFFF"/>
                    </a:solidFill>
                  </a:tcPr>
                </a:tc>
                <a:tc>
                  <a:txBody>
                    <a:bodyPr/>
                    <a:lstStyle/>
                    <a:p>
                      <a:pPr algn="ctr">
                        <a:defRPr sz="1000" b="1">
                          <a:solidFill>
                            <a:srgbClr val="1E40AF"/>
                          </a:solidFill>
                          <a:latin typeface="Arial"/>
                        </a:defRPr>
                      </a:pPr>
                      <a:r>
                        <a:t>25 Marks</a:t>
                      </a:r>
                    </a:p>
                  </a:txBody>
                  <a:tcPr>
                    <a:solidFill>
                      <a:srgbClr val="FFFFFF"/>
                    </a:solidFill>
                  </a:tcPr>
                </a:tc>
                <a:tc>
                  <a:txBody>
                    <a:bodyPr/>
                    <a:lstStyle/>
                    <a:p>
                      <a:pPr algn="ctr">
                        <a:defRPr sz="1000">
                          <a:solidFill>
                            <a:srgbClr val="0F172A"/>
                          </a:solidFill>
                          <a:latin typeface="Arial"/>
                        </a:defRPr>
                      </a:pPr>
                      <a:r>
                        <a:t>Standard</a:t>
                      </a:r>
                    </a:p>
                  </a:txBody>
                  <a:tcPr>
                    <a:solidFill>
                      <a:srgbClr val="FFFFFF"/>
                    </a:solidFill>
                  </a:tcPr>
                </a:tc>
              </a:tr>
              <a:tr h="438912">
                <a:tc>
                  <a:txBody>
                    <a:bodyPr/>
                    <a:lstStyle/>
                    <a:p>
                      <a:pPr algn="ctr">
                        <a:defRPr sz="1000">
                          <a:solidFill>
                            <a:srgbClr val="0F172A"/>
                          </a:solidFill>
                          <a:latin typeface="Arial"/>
                        </a:defRPr>
                      </a:pPr>
                      <a:r>
                        <a:t>Question 2</a:t>
                      </a:r>
                    </a:p>
                  </a:txBody>
                  <a:tcPr>
                    <a:solidFill>
                      <a:srgbClr val="F8FAFC"/>
                    </a:solidFill>
                  </a:tcPr>
                </a:tc>
                <a:tc>
                  <a:txBody>
                    <a:bodyPr/>
                    <a:lstStyle/>
                    <a:p>
                      <a:pPr>
                        <a:defRPr sz="1000">
                          <a:solidFill>
                            <a:srgbClr val="0F172A"/>
                          </a:solidFill>
                          <a:latin typeface="Arial"/>
                        </a:defRPr>
                      </a:pPr>
                      <a:r>
                        <a:t>Examine the Indian Independence Act of 1947. Discuss the political, social, and economic f...</a:t>
                      </a:r>
                    </a:p>
                  </a:txBody>
                  <a:tcPr>
                    <a:solidFill>
                      <a:srgbClr val="F8FAFC"/>
                    </a:solidFill>
                  </a:tcPr>
                </a:tc>
                <a:tc>
                  <a:txBody>
                    <a:bodyPr/>
                    <a:lstStyle/>
                    <a:p>
                      <a:pPr algn="ctr">
                        <a:defRPr sz="1000" b="1">
                          <a:solidFill>
                            <a:srgbClr val="1E40AF"/>
                          </a:solidFill>
                          <a:latin typeface="Arial"/>
                        </a:defRPr>
                      </a:pPr>
                      <a:r>
                        <a:t>25 Marks</a:t>
                      </a:r>
                    </a:p>
                  </a:txBody>
                  <a:tcPr>
                    <a:solidFill>
                      <a:srgbClr val="F8FAFC"/>
                    </a:solidFill>
                  </a:tcPr>
                </a:tc>
                <a:tc>
                  <a:txBody>
                    <a:bodyPr/>
                    <a:lstStyle/>
                    <a:p>
                      <a:pPr algn="ctr">
                        <a:defRPr sz="1000">
                          <a:solidFill>
                            <a:srgbClr val="0F172A"/>
                          </a:solidFill>
                          <a:latin typeface="Arial"/>
                        </a:defRPr>
                      </a:pPr>
                      <a:r>
                        <a:t>Standard</a:t>
                      </a:r>
                    </a:p>
                  </a:txBody>
                  <a:tcPr>
                    <a:solidFill>
                      <a:srgbClr val="F8FAFC"/>
                    </a:solidFill>
                  </a:tcPr>
                </a:tc>
              </a:tr>
            </a:tbl>
          </a:graphicData>
        </a:graphic>
      </p:graphicFrame>
      <p:sp>
        <p:nvSpPr>
          <p:cNvPr id="7" name="Rectangle 6"/>
          <p:cNvSpPr/>
          <p:nvPr/>
        </p:nvSpPr>
        <p:spPr>
          <a:xfrm>
            <a:off x="0" y="644652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73952"/>
            <a:ext cx="6858000" cy="320040"/>
          </a:xfrm>
          <a:prstGeom prst="rect">
            <a:avLst/>
          </a:prstGeom>
          <a:noFill/>
        </p:spPr>
        <p:txBody>
          <a:bodyPr wrap="none">
            <a:spAutoFit/>
          </a:bodyPr>
          <a:lstStyle/>
          <a:p>
            <a:pPr>
              <a:defRPr sz="950">
                <a:solidFill>
                  <a:srgbClr val="CBD5E1"/>
                </a:solidFill>
                <a:latin typeface="Arial"/>
              </a:defRPr>
            </a:pPr>
            <a:r>
              <a:t>ExamGen Autonomous Examination System  •  World War II &amp; Decolonization</a:t>
            </a:r>
          </a:p>
        </p:txBody>
      </p:sp>
      <p:sp>
        <p:nvSpPr>
          <p:cNvPr id="9" name="TextBox 8"/>
          <p:cNvSpPr txBox="1"/>
          <p:nvPr/>
        </p:nvSpPr>
        <p:spPr>
          <a:xfrm>
            <a:off x="8686800" y="6473952"/>
            <a:ext cx="2926080" cy="320040"/>
          </a:xfrm>
          <a:prstGeom prst="rect">
            <a:avLst/>
          </a:prstGeom>
          <a:noFill/>
        </p:spPr>
        <p:txBody>
          <a:bodyPr wrap="none">
            <a:spAutoFit/>
          </a:bodyPr>
          <a:lstStyle/>
          <a:p>
            <a:pPr algn="r">
              <a:defRPr sz="950">
                <a:solidFill>
                  <a:srgbClr val="CBD5E1"/>
                </a:solidFill>
                <a:latin typeface="Arial"/>
              </a:defRPr>
            </a:pPr>
            <a:r>
              <a:t>Slide 2 of 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6576"/>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8046720" cy="731520"/>
          </a:xfrm>
          <a:prstGeom prst="rect">
            <a:avLst/>
          </a:prstGeom>
          <a:noFill/>
        </p:spPr>
        <p:txBody>
          <a:bodyPr wrap="square">
            <a:spAutoFit/>
          </a:bodyPr>
          <a:lstStyle/>
          <a:p>
            <a:pPr>
              <a:defRPr sz="2200" b="1">
                <a:solidFill>
                  <a:srgbClr val="FFFFFF"/>
                </a:solidFill>
                <a:latin typeface="Arial"/>
              </a:defRPr>
            </a:pPr>
            <a:r>
              <a:t>Question 1  [25 Marks]</a:t>
            </a:r>
          </a:p>
        </p:txBody>
      </p:sp>
      <p:sp>
        <p:nvSpPr>
          <p:cNvPr id="5" name="Rounded Rectangle 4"/>
          <p:cNvSpPr/>
          <p:nvPr/>
        </p:nvSpPr>
        <p:spPr>
          <a:xfrm>
            <a:off x="8961120" y="274320"/>
            <a:ext cx="2651760" cy="502920"/>
          </a:xfrm>
          <a:prstGeom prst="round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rial"/>
              </a:defRPr>
            </a:pPr>
            <a:r>
              <a:t>📜 HISTORY &amp; HUMANITIES</a:t>
            </a:r>
          </a:p>
        </p:txBody>
      </p:sp>
      <p:sp>
        <p:nvSpPr>
          <p:cNvPr id="6" name="Rounded Rectangle 5"/>
          <p:cNvSpPr/>
          <p:nvPr/>
        </p:nvSpPr>
        <p:spPr>
          <a:xfrm>
            <a:off x="731520" y="1325880"/>
            <a:ext cx="10698480" cy="3749039"/>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E40AF"/>
                </a:solidFill>
                <a:latin typeface="Arial"/>
              </a:defRPr>
            </a:pPr>
            <a:r>
              <a:t>PROBLEM STATEMENT &amp; TASKS:</a:t>
            </a:r>
          </a:p>
          <a:p>
            <a:pPr>
              <a:defRPr sz="1500">
                <a:solidFill>
                  <a:srgbClr val="0F172A"/>
                </a:solidFill>
                <a:latin typeface="Arial"/>
              </a:defRPr>
            </a:pPr>
            <a:r>
              <a:t>Analyse the causes and consequences of the end of World War II in 1945, focusing on the surrender of Axis powers and the establishment of the United Nations. Include evaluation of the UN Charter's principles and its impact on the post-war international order. Use primary source extracts (e.g., the Preamble of the UN Charter) to support your answer.</a:t>
            </a:r>
          </a:p>
        </p:txBody>
      </p:sp>
      <p:sp>
        <p:nvSpPr>
          <p:cNvPr id="7" name="Rounded Rectangle 6"/>
          <p:cNvSpPr/>
          <p:nvPr/>
        </p:nvSpPr>
        <p:spPr>
          <a:xfrm>
            <a:off x="731520" y="5257800"/>
            <a:ext cx="10698480" cy="868680"/>
          </a:xfrm>
          <a:prstGeom prst="roundRect">
            <a:avLst/>
          </a:prstGeom>
          <a:solidFill>
            <a:srgbClr val="EFF6FF"/>
          </a:solidFill>
          <a:ln w="1270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E40AF"/>
                </a:solidFill>
                <a:latin typeface="Arial"/>
              </a:defRPr>
            </a:pPr>
            <a:r>
              <a:t>💡 EVALUATION &amp; ANSWER DIRECTIVES:</a:t>
            </a:r>
          </a:p>
          <a:p>
            <a:pPr>
              <a:defRPr sz="1000">
                <a:solidFill>
                  <a:srgbClr val="1E293B"/>
                </a:solidFill>
                <a:latin typeface="Arial"/>
              </a:defRPr>
            </a:pPr>
            <a:r>
              <a:t>Total Marks: 25  •  Candidates must demonstrate rigorous mathematical proof / textual substantiation and clearly outline final conclusions.</a:t>
            </a:r>
          </a:p>
        </p:txBody>
      </p:sp>
      <p:sp>
        <p:nvSpPr>
          <p:cNvPr id="8" name="Rectangle 7"/>
          <p:cNvSpPr/>
          <p:nvPr/>
        </p:nvSpPr>
        <p:spPr>
          <a:xfrm>
            <a:off x="0" y="644652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473952"/>
            <a:ext cx="6858000" cy="320040"/>
          </a:xfrm>
          <a:prstGeom prst="rect">
            <a:avLst/>
          </a:prstGeom>
          <a:noFill/>
        </p:spPr>
        <p:txBody>
          <a:bodyPr wrap="none">
            <a:spAutoFit/>
          </a:bodyPr>
          <a:lstStyle/>
          <a:p>
            <a:pPr>
              <a:defRPr sz="950">
                <a:solidFill>
                  <a:srgbClr val="CBD5E1"/>
                </a:solidFill>
                <a:latin typeface="Arial"/>
              </a:defRPr>
            </a:pPr>
            <a:r>
              <a:t>ExamGen Autonomous Examination System  •  World War II &amp; Decolonization</a:t>
            </a:r>
          </a:p>
        </p:txBody>
      </p:sp>
      <p:sp>
        <p:nvSpPr>
          <p:cNvPr id="10" name="TextBox 9"/>
          <p:cNvSpPr txBox="1"/>
          <p:nvPr/>
        </p:nvSpPr>
        <p:spPr>
          <a:xfrm>
            <a:off x="8686800" y="6473952"/>
            <a:ext cx="2926080" cy="320040"/>
          </a:xfrm>
          <a:prstGeom prst="rect">
            <a:avLst/>
          </a:prstGeom>
          <a:noFill/>
        </p:spPr>
        <p:txBody>
          <a:bodyPr wrap="none">
            <a:spAutoFit/>
          </a:bodyPr>
          <a:lstStyle/>
          <a:p>
            <a:pPr algn="r">
              <a:defRPr sz="950">
                <a:solidFill>
                  <a:srgbClr val="CBD5E1"/>
                </a:solidFill>
                <a:latin typeface="Arial"/>
              </a:defRPr>
            </a:pPr>
            <a:r>
              <a:t>Slide 3 of 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6576"/>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8046720" cy="731520"/>
          </a:xfrm>
          <a:prstGeom prst="rect">
            <a:avLst/>
          </a:prstGeom>
          <a:noFill/>
        </p:spPr>
        <p:txBody>
          <a:bodyPr wrap="square">
            <a:spAutoFit/>
          </a:bodyPr>
          <a:lstStyle/>
          <a:p>
            <a:pPr>
              <a:defRPr sz="2200" b="1">
                <a:solidFill>
                  <a:srgbClr val="FFFFFF"/>
                </a:solidFill>
                <a:latin typeface="Arial"/>
              </a:defRPr>
            </a:pPr>
            <a:r>
              <a:t>Question 2  [25 Marks]</a:t>
            </a:r>
          </a:p>
        </p:txBody>
      </p:sp>
      <p:sp>
        <p:nvSpPr>
          <p:cNvPr id="5" name="Rounded Rectangle 4"/>
          <p:cNvSpPr/>
          <p:nvPr/>
        </p:nvSpPr>
        <p:spPr>
          <a:xfrm>
            <a:off x="8961120" y="274320"/>
            <a:ext cx="2651760" cy="502920"/>
          </a:xfrm>
          <a:prstGeom prst="round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rial"/>
              </a:defRPr>
            </a:pPr>
            <a:r>
              <a:t>📜 HISTORY &amp; HUMANITIES</a:t>
            </a:r>
          </a:p>
        </p:txBody>
      </p:sp>
      <p:sp>
        <p:nvSpPr>
          <p:cNvPr id="6" name="Rounded Rectangle 5"/>
          <p:cNvSpPr/>
          <p:nvPr/>
        </p:nvSpPr>
        <p:spPr>
          <a:xfrm>
            <a:off x="731520" y="1325880"/>
            <a:ext cx="10698480" cy="3749039"/>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E40AF"/>
                </a:solidFill>
                <a:latin typeface="Arial"/>
              </a:defRPr>
            </a:pPr>
            <a:r>
              <a:t>PROBLEM STATEMENT &amp; TASKS:</a:t>
            </a:r>
          </a:p>
          <a:p>
            <a:pPr>
              <a:defRPr sz="1300">
                <a:solidFill>
                  <a:srgbClr val="0F172A"/>
                </a:solidFill>
                <a:latin typeface="Arial"/>
              </a:defRPr>
            </a:pPr>
            <a:r>
              <a:t>Examine the Indian Independence Act of 1947. Discuss the political, social, and economic factors leading to the partition of British India, and assess the immediate and long-term consequences for India and Pakistan. Incorporate analysis of contemporary perspectives (e.g., speeches by Jawaharlal Nehru and Muhammad Ali Jinnah) and evaluate the act's significance in the broader context of decolonization.</a:t>
            </a:r>
          </a:p>
        </p:txBody>
      </p:sp>
      <p:sp>
        <p:nvSpPr>
          <p:cNvPr id="7" name="Rounded Rectangle 6"/>
          <p:cNvSpPr/>
          <p:nvPr/>
        </p:nvSpPr>
        <p:spPr>
          <a:xfrm>
            <a:off x="731520" y="5257800"/>
            <a:ext cx="10698480" cy="868680"/>
          </a:xfrm>
          <a:prstGeom prst="roundRect">
            <a:avLst/>
          </a:prstGeom>
          <a:solidFill>
            <a:srgbClr val="EFF6FF"/>
          </a:solidFill>
          <a:ln w="1270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E40AF"/>
                </a:solidFill>
                <a:latin typeface="Arial"/>
              </a:defRPr>
            </a:pPr>
            <a:r>
              <a:t>💡 EVALUATION &amp; ANSWER DIRECTIVES:</a:t>
            </a:r>
          </a:p>
          <a:p>
            <a:pPr>
              <a:defRPr sz="1000">
                <a:solidFill>
                  <a:srgbClr val="1E293B"/>
                </a:solidFill>
                <a:latin typeface="Arial"/>
              </a:defRPr>
            </a:pPr>
            <a:r>
              <a:t>Total Marks: 25  •  Candidates must demonstrate rigorous mathematical proof / textual substantiation and clearly outline final conclusions.</a:t>
            </a:r>
          </a:p>
        </p:txBody>
      </p:sp>
      <p:sp>
        <p:nvSpPr>
          <p:cNvPr id="8" name="Rectangle 7"/>
          <p:cNvSpPr/>
          <p:nvPr/>
        </p:nvSpPr>
        <p:spPr>
          <a:xfrm>
            <a:off x="0" y="644652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473952"/>
            <a:ext cx="6858000" cy="320040"/>
          </a:xfrm>
          <a:prstGeom prst="rect">
            <a:avLst/>
          </a:prstGeom>
          <a:noFill/>
        </p:spPr>
        <p:txBody>
          <a:bodyPr wrap="none">
            <a:spAutoFit/>
          </a:bodyPr>
          <a:lstStyle/>
          <a:p>
            <a:pPr>
              <a:defRPr sz="950">
                <a:solidFill>
                  <a:srgbClr val="CBD5E1"/>
                </a:solidFill>
                <a:latin typeface="Arial"/>
              </a:defRPr>
            </a:pPr>
            <a:r>
              <a:t>ExamGen Autonomous Examination System  •  World War II &amp; Decolonization</a:t>
            </a:r>
          </a:p>
        </p:txBody>
      </p:sp>
      <p:sp>
        <p:nvSpPr>
          <p:cNvPr id="10" name="TextBox 9"/>
          <p:cNvSpPr txBox="1"/>
          <p:nvPr/>
        </p:nvSpPr>
        <p:spPr>
          <a:xfrm>
            <a:off x="8686800" y="6473952"/>
            <a:ext cx="2926080" cy="320040"/>
          </a:xfrm>
          <a:prstGeom prst="rect">
            <a:avLst/>
          </a:prstGeom>
          <a:noFill/>
        </p:spPr>
        <p:txBody>
          <a:bodyPr wrap="none">
            <a:spAutoFit/>
          </a:bodyPr>
          <a:lstStyle/>
          <a:p>
            <a:pPr algn="r">
              <a:defRPr sz="950">
                <a:solidFill>
                  <a:srgbClr val="CBD5E1"/>
                </a:solidFill>
                <a:latin typeface="Arial"/>
              </a:defRPr>
            </a:pPr>
            <a:r>
              <a:t>Slide 4 of 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6576"/>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8046720" cy="731520"/>
          </a:xfrm>
          <a:prstGeom prst="rect">
            <a:avLst/>
          </a:prstGeom>
          <a:noFill/>
        </p:spPr>
        <p:txBody>
          <a:bodyPr wrap="square">
            <a:spAutoFit/>
          </a:bodyPr>
          <a:lstStyle/>
          <a:p>
            <a:pPr>
              <a:defRPr sz="2200" b="1">
                <a:solidFill>
                  <a:srgbClr val="FFFFFF"/>
                </a:solidFill>
                <a:latin typeface="Arial"/>
              </a:defRPr>
            </a:pPr>
            <a:r>
              <a:t>Examiner Marking Scheme &amp; Rubric Guidelines</a:t>
            </a:r>
          </a:p>
        </p:txBody>
      </p:sp>
      <p:sp>
        <p:nvSpPr>
          <p:cNvPr id="5" name="Rounded Rectangle 4"/>
          <p:cNvSpPr/>
          <p:nvPr/>
        </p:nvSpPr>
        <p:spPr>
          <a:xfrm>
            <a:off x="8961120" y="274320"/>
            <a:ext cx="2651760" cy="502920"/>
          </a:xfrm>
          <a:prstGeom prst="roundRect">
            <a:avLst/>
          </a:prstGeom>
          <a:solidFill>
            <a:srgbClr val="059669"/>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rial"/>
              </a:defRPr>
            </a:pPr>
            <a:r>
              <a:t>GRADING RUBRIC</a:t>
            </a:r>
          </a:p>
        </p:txBody>
      </p:sp>
      <p:sp>
        <p:nvSpPr>
          <p:cNvPr id="6" name="Rounded Rectangle 5"/>
          <p:cNvSpPr/>
          <p:nvPr/>
        </p:nvSpPr>
        <p:spPr>
          <a:xfrm>
            <a:off x="731520" y="1371600"/>
            <a:ext cx="10698480" cy="466344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0F172A"/>
                </a:solidFill>
                <a:latin typeface="Arial"/>
              </a:defRPr>
            </a:pPr>
            <a:r>
              <a:t>STANDARDIZED EVALUATION CHECKLIST &amp; MARK DISTRIBUTION</a:t>
            </a:r>
          </a:p>
          <a:p>
            <a:pPr>
              <a:defRPr sz="1150" b="1">
                <a:solidFill>
                  <a:srgbClr val="1E40AF"/>
                </a:solidFill>
                <a:latin typeface="Arial"/>
              </a:defRPr>
            </a:pPr>
            <a:r>
              <a:t>• Conceptual Understanding &amp; Formulation (30%)</a:t>
            </a:r>
          </a:p>
          <a:p>
            <a:pPr>
              <a:defRPr sz="1050">
                <a:solidFill>
                  <a:srgbClr val="1E293B"/>
                </a:solidFill>
                <a:latin typeface="Arial"/>
              </a:defRPr>
            </a:pPr>
            <a:r>
              <a:t>   Correct identification of applicable theorems, formulas, historical events, or core principles.</a:t>
            </a:r>
          </a:p>
          <a:p>
            <a:pPr>
              <a:defRPr sz="1150" b="1">
                <a:solidFill>
                  <a:srgbClr val="1E40AF"/>
                </a:solidFill>
                <a:latin typeface="Arial"/>
              </a:defRPr>
            </a:pPr>
            <a:r>
              <a:t>• Methodological Execution &amp; Working Steps (40%)</a:t>
            </a:r>
          </a:p>
          <a:p>
            <a:pPr>
              <a:defRPr sz="1050">
                <a:solidFill>
                  <a:srgbClr val="1E293B"/>
                </a:solidFill>
                <a:latin typeface="Arial"/>
              </a:defRPr>
            </a:pPr>
            <a:r>
              <a:t>   Logical sequence of derivations, intermediate algebraic steps, balanced chemical reactions, or source analysis.</a:t>
            </a:r>
          </a:p>
          <a:p>
            <a:pPr>
              <a:defRPr sz="1150" b="1">
                <a:solidFill>
                  <a:srgbClr val="1E40AF"/>
                </a:solidFill>
                <a:latin typeface="Arial"/>
              </a:defRPr>
            </a:pPr>
            <a:r>
              <a:t>• Accuracy &amp; Final Solution (20%)</a:t>
            </a:r>
          </a:p>
          <a:p>
            <a:pPr>
              <a:defRPr sz="1050">
                <a:solidFill>
                  <a:srgbClr val="1E293B"/>
                </a:solidFill>
                <a:latin typeface="Arial"/>
              </a:defRPr>
            </a:pPr>
            <a:r>
              <a:t>   Precise numerical results, correct physical units, or coherent synthesis of concluding arguments.</a:t>
            </a:r>
          </a:p>
          <a:p>
            <a:pPr>
              <a:defRPr sz="1150" b="1">
                <a:solidFill>
                  <a:srgbClr val="1E40AF"/>
                </a:solidFill>
                <a:latin typeface="Arial"/>
              </a:defRPr>
            </a:pPr>
            <a:r>
              <a:t>• Diagrams, Notation &amp; Presentation (10%)</a:t>
            </a:r>
          </a:p>
          <a:p>
            <a:pPr>
              <a:defRPr sz="1050">
                <a:solidFill>
                  <a:srgbClr val="1E293B"/>
                </a:solidFill>
                <a:latin typeface="Arial"/>
              </a:defRPr>
            </a:pPr>
            <a:r>
              <a:t>   Neatness, accurate diagram labeling, standard mathematical/scientific notation, and clarity.</a:t>
            </a:r>
          </a:p>
        </p:txBody>
      </p:sp>
      <p:sp>
        <p:nvSpPr>
          <p:cNvPr id="7" name="Rectangle 6"/>
          <p:cNvSpPr/>
          <p:nvPr/>
        </p:nvSpPr>
        <p:spPr>
          <a:xfrm>
            <a:off x="0" y="644652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73952"/>
            <a:ext cx="6858000" cy="320040"/>
          </a:xfrm>
          <a:prstGeom prst="rect">
            <a:avLst/>
          </a:prstGeom>
          <a:noFill/>
        </p:spPr>
        <p:txBody>
          <a:bodyPr wrap="none">
            <a:spAutoFit/>
          </a:bodyPr>
          <a:lstStyle/>
          <a:p>
            <a:pPr>
              <a:defRPr sz="950">
                <a:solidFill>
                  <a:srgbClr val="CBD5E1"/>
                </a:solidFill>
                <a:latin typeface="Arial"/>
              </a:defRPr>
            </a:pPr>
            <a:r>
              <a:t>ExamGen Autonomous Examination System  •  World War II &amp; Decolonization</a:t>
            </a:r>
          </a:p>
        </p:txBody>
      </p:sp>
      <p:sp>
        <p:nvSpPr>
          <p:cNvPr id="9" name="TextBox 8"/>
          <p:cNvSpPr txBox="1"/>
          <p:nvPr/>
        </p:nvSpPr>
        <p:spPr>
          <a:xfrm>
            <a:off x="8686800" y="6473952"/>
            <a:ext cx="2926080" cy="320040"/>
          </a:xfrm>
          <a:prstGeom prst="rect">
            <a:avLst/>
          </a:prstGeom>
          <a:noFill/>
        </p:spPr>
        <p:txBody>
          <a:bodyPr wrap="none">
            <a:spAutoFit/>
          </a:bodyPr>
          <a:lstStyle/>
          <a:p>
            <a:pPr algn="r">
              <a:defRPr sz="950">
                <a:solidFill>
                  <a:srgbClr val="CBD5E1"/>
                </a:solidFill>
                <a:latin typeface="Arial"/>
              </a:defRPr>
            </a:pPr>
            <a:r>
              <a:t>Slide 5 of 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